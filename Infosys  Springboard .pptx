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62" r:id="rId3"/>
    <p:sldId id="263" r:id="rId4"/>
    <p:sldId id="264" r:id="rId5"/>
    <p:sldId id="265" r:id="rId6"/>
    <p:sldId id="266" r:id="rId7"/>
    <p:sldId id="267" r:id="rId8"/>
    <p:sldId id="268" r:id="rId9"/>
    <p:sldId id="271" r:id="rId10"/>
    <p:sldId id="272" r:id="rId11"/>
    <p:sldId id="273" r:id="rId12"/>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varScale="1">
        <p:scale>
          <a:sx n="51" d="100"/>
          <a:sy n="51" d="100"/>
        </p:scale>
        <p:origin x="926"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072EF88B-9B5B-40F2-970D-E7C39A88CE7A}" type="datetimeFigureOut">
              <a:rPr lang="en-IN" smtClean="0"/>
              <a:t>07-01-2026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322F7250-3D48-477A-B5B8-8BCC6DBAE444}" type="slidenum">
              <a:rPr lang="en-IN" smtClean="0"/>
              <a:t>‹#›</a:t>
            </a:fld>
            <a:endParaRPr lang="en-IN"/>
          </a:p>
        </p:txBody>
      </p:sp>
    </p:spTree>
    <p:extLst>
      <p:ext uri="{BB962C8B-B14F-4D97-AF65-F5344CB8AC3E}">
        <p14:creationId xmlns:p14="http://schemas.microsoft.com/office/powerpoint/2010/main" val="1845256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200" b="1" i="0">
                <a:solidFill>
                  <a:srgbClr val="0C2B54"/>
                </a:solidFill>
                <a:latin typeface="Garamond"/>
                <a:cs typeface="Garamond"/>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5000" b="0" i="0">
                <a:solidFill>
                  <a:srgbClr val="0C2B54"/>
                </a:solidFill>
                <a:latin typeface="Garamond"/>
                <a:cs typeface="Garamond"/>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1" i="0">
                <a:solidFill>
                  <a:srgbClr val="0C2B54"/>
                </a:solidFill>
                <a:latin typeface="Garamond"/>
                <a:cs typeface="Garamond"/>
              </a:defRPr>
            </a:lvl1pPr>
          </a:lstStyle>
          <a:p>
            <a:endParaRPr/>
          </a:p>
        </p:txBody>
      </p:sp>
      <p:sp>
        <p:nvSpPr>
          <p:cNvPr id="3" name="Holder 3"/>
          <p:cNvSpPr>
            <a:spLocks noGrp="1"/>
          </p:cNvSpPr>
          <p:nvPr>
            <p:ph type="body" idx="1"/>
          </p:nvPr>
        </p:nvSpPr>
        <p:spPr/>
        <p:txBody>
          <a:bodyPr lIns="0" tIns="0" rIns="0" bIns="0"/>
          <a:lstStyle>
            <a:lvl1pPr>
              <a:defRPr sz="5000" b="0" i="0">
                <a:solidFill>
                  <a:srgbClr val="0C2B54"/>
                </a:solidFill>
                <a:latin typeface="Garamond"/>
                <a:cs typeface="Garamond"/>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1" i="0">
                <a:solidFill>
                  <a:srgbClr val="0C2B54"/>
                </a:solidFill>
                <a:latin typeface="Garamond"/>
                <a:cs typeface="Garamond"/>
              </a:defRPr>
            </a:lvl1pPr>
          </a:lstStyle>
          <a:p>
            <a:endParaRPr/>
          </a:p>
        </p:txBody>
      </p:sp>
      <p:sp>
        <p:nvSpPr>
          <p:cNvPr id="3" name="Holder 3"/>
          <p:cNvSpPr>
            <a:spLocks noGrp="1"/>
          </p:cNvSpPr>
          <p:nvPr>
            <p:ph sz="half" idx="2"/>
          </p:nvPr>
        </p:nvSpPr>
        <p:spPr>
          <a:xfrm>
            <a:off x="1466160" y="2970941"/>
            <a:ext cx="5838825" cy="6590665"/>
          </a:xfrm>
          <a:prstGeom prst="rect">
            <a:avLst/>
          </a:prstGeom>
        </p:spPr>
        <p:txBody>
          <a:bodyPr wrap="square" lIns="0" tIns="0" rIns="0" bIns="0">
            <a:spAutoFit/>
          </a:bodyPr>
          <a:lstStyle>
            <a:lvl1pPr>
              <a:defRPr sz="2000" b="0" i="0">
                <a:solidFill>
                  <a:srgbClr val="0C2B54"/>
                </a:solidFill>
                <a:latin typeface="Arial Black"/>
                <a:cs typeface="Arial Black"/>
              </a:defRPr>
            </a:lvl1pPr>
          </a:lstStyle>
          <a:p>
            <a:endParaRPr/>
          </a:p>
        </p:txBody>
      </p:sp>
      <p:sp>
        <p:nvSpPr>
          <p:cNvPr id="4" name="Holder 4"/>
          <p:cNvSpPr>
            <a:spLocks noGrp="1"/>
          </p:cNvSpPr>
          <p:nvPr>
            <p:ph sz="half" idx="3"/>
          </p:nvPr>
        </p:nvSpPr>
        <p:spPr>
          <a:xfrm>
            <a:off x="9612186" y="1830618"/>
            <a:ext cx="7804150" cy="6226175"/>
          </a:xfrm>
          <a:prstGeom prst="rect">
            <a:avLst/>
          </a:prstGeom>
        </p:spPr>
        <p:txBody>
          <a:bodyPr wrap="square" lIns="0" tIns="0" rIns="0" bIns="0">
            <a:spAutoFit/>
          </a:bodyPr>
          <a:lstStyle>
            <a:lvl1pPr>
              <a:defRPr sz="1700" b="0" i="0">
                <a:solidFill>
                  <a:srgbClr val="0C2B54"/>
                </a:solidFill>
                <a:latin typeface="Arial Black"/>
                <a:cs typeface="Arial Black"/>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1" i="0">
                <a:solidFill>
                  <a:srgbClr val="0C2B54"/>
                </a:solidFill>
                <a:latin typeface="Garamond"/>
                <a:cs typeface="Garamond"/>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E3F0FF"/>
          </a:solidFill>
        </p:spPr>
        <p:txBody>
          <a:bodyPr wrap="square" lIns="0" tIns="0" rIns="0" bIns="0" rtlCol="0"/>
          <a:lstStyle/>
          <a:p>
            <a:endParaRPr/>
          </a:p>
        </p:txBody>
      </p:sp>
      <p:sp>
        <p:nvSpPr>
          <p:cNvPr id="2" name="Holder 2"/>
          <p:cNvSpPr>
            <a:spLocks noGrp="1"/>
          </p:cNvSpPr>
          <p:nvPr>
            <p:ph type="title"/>
          </p:nvPr>
        </p:nvSpPr>
        <p:spPr>
          <a:xfrm>
            <a:off x="4029319" y="194243"/>
            <a:ext cx="10552136" cy="1324555"/>
          </a:xfrm>
          <a:prstGeom prst="rect">
            <a:avLst/>
          </a:prstGeom>
        </p:spPr>
        <p:txBody>
          <a:bodyPr wrap="square" lIns="0" tIns="0" rIns="0" bIns="0">
            <a:spAutoFit/>
          </a:bodyPr>
          <a:lstStyle>
            <a:lvl1pPr>
              <a:defRPr sz="5200" b="1" i="0">
                <a:solidFill>
                  <a:srgbClr val="0C2B54"/>
                </a:solidFill>
                <a:latin typeface="Garamond"/>
                <a:cs typeface="Garamond"/>
              </a:defRPr>
            </a:lvl1pPr>
          </a:lstStyle>
          <a:p>
            <a:endParaRPr/>
          </a:p>
        </p:txBody>
      </p:sp>
      <p:sp>
        <p:nvSpPr>
          <p:cNvPr id="3" name="Holder 3"/>
          <p:cNvSpPr>
            <a:spLocks noGrp="1"/>
          </p:cNvSpPr>
          <p:nvPr>
            <p:ph type="body" idx="1"/>
          </p:nvPr>
        </p:nvSpPr>
        <p:spPr>
          <a:xfrm>
            <a:off x="2181045" y="2111766"/>
            <a:ext cx="13766165" cy="6553200"/>
          </a:xfrm>
          <a:prstGeom prst="rect">
            <a:avLst/>
          </a:prstGeom>
        </p:spPr>
        <p:txBody>
          <a:bodyPr wrap="square" lIns="0" tIns="0" rIns="0" bIns="0">
            <a:spAutoFit/>
          </a:bodyPr>
          <a:lstStyle>
            <a:lvl1pPr>
              <a:defRPr sz="5000" b="0" i="0">
                <a:solidFill>
                  <a:srgbClr val="0C2B54"/>
                </a:solidFill>
                <a:latin typeface="Garamond"/>
                <a:cs typeface="Garamond"/>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1/7/2026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agrovision-ai.streamlit.app/" TargetMode="External"/><Relationship Id="rId2" Type="http://schemas.openxmlformats.org/officeDocument/2006/relationships/hyperlink" Target="https://github.com/Vedantpatil03/AgroVision-AI_.git"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10200" y="2366962"/>
            <a:ext cx="8839200" cy="3894600"/>
          </a:xfrm>
          <a:prstGeom prst="rect">
            <a:avLst/>
          </a:prstGeom>
        </p:spPr>
        <p:txBody>
          <a:bodyPr vert="horz" wrap="square" lIns="0" tIns="519375" rIns="0" bIns="0" rtlCol="0">
            <a:spAutoFit/>
          </a:bodyPr>
          <a:lstStyle/>
          <a:p>
            <a:pPr marL="48895">
              <a:lnSpc>
                <a:spcPct val="100000"/>
              </a:lnSpc>
              <a:spcBef>
                <a:spcPts val="100"/>
              </a:spcBef>
            </a:pPr>
            <a:r>
              <a:rPr lang="en-IN" sz="6000" dirty="0"/>
              <a:t>🌍AGROVISION AI</a:t>
            </a:r>
            <a:br>
              <a:rPr lang="en-IN" sz="6000" dirty="0"/>
            </a:br>
            <a:br>
              <a:rPr lang="en-IN" sz="5500" dirty="0"/>
            </a:br>
            <a:br>
              <a:rPr lang="en-IN" dirty="0"/>
            </a:br>
            <a:endParaRPr spc="-20" dirty="0"/>
          </a:p>
        </p:txBody>
      </p:sp>
      <p:sp>
        <p:nvSpPr>
          <p:cNvPr id="14" name="object 14"/>
          <p:cNvSpPr txBox="1">
            <a:spLocks noGrp="1"/>
          </p:cNvSpPr>
          <p:nvPr>
            <p:ph type="body" idx="1"/>
          </p:nvPr>
        </p:nvSpPr>
        <p:spPr>
          <a:xfrm>
            <a:off x="1447800" y="4533900"/>
            <a:ext cx="15112683" cy="3898503"/>
          </a:xfrm>
          <a:prstGeom prst="rect">
            <a:avLst/>
          </a:prstGeom>
        </p:spPr>
        <p:txBody>
          <a:bodyPr vert="horz" wrap="square" lIns="0" tIns="12700" rIns="0" bIns="0" rtlCol="0">
            <a:spAutoFit/>
          </a:bodyPr>
          <a:lstStyle/>
          <a:p>
            <a:pPr marL="453390" marR="5080" algn="ctr">
              <a:lnSpc>
                <a:spcPct val="100000"/>
              </a:lnSpc>
              <a:spcBef>
                <a:spcPts val="100"/>
              </a:spcBef>
            </a:pPr>
            <a:r>
              <a:rPr lang="en-IN" dirty="0"/>
              <a:t>AI-Powered Smart Soil &amp; Vegetation Analysis</a:t>
            </a:r>
          </a:p>
          <a:p>
            <a:pPr marL="453390" marR="5080" algn="ctr">
              <a:spcBef>
                <a:spcPts val="100"/>
              </a:spcBef>
            </a:pPr>
            <a:r>
              <a:rPr lang="en-IN" dirty="0"/>
              <a:t>Using Deep Learning for Ruins Detection, Vegetation Analysis &amp; Erosion Prediction</a:t>
            </a:r>
          </a:p>
          <a:p>
            <a:pPr marL="453390" marR="5080" algn="ctr">
              <a:lnSpc>
                <a:spcPct val="100000"/>
              </a:lnSpc>
              <a:spcBef>
                <a:spcPts val="100"/>
              </a:spcBef>
            </a:pPr>
            <a:endParaRPr lang="en-IN" dirty="0"/>
          </a:p>
          <a:p>
            <a:pPr marL="453390" marR="5080" algn="ctr">
              <a:lnSpc>
                <a:spcPct val="100000"/>
              </a:lnSpc>
              <a:spcBef>
                <a:spcPts val="100"/>
              </a:spcBef>
            </a:pPr>
            <a:endParaRPr spc="-25" dirty="0"/>
          </a:p>
        </p:txBody>
      </p:sp>
      <p:pic>
        <p:nvPicPr>
          <p:cNvPr id="18" name="Picture 17">
            <a:extLst>
              <a:ext uri="{FF2B5EF4-FFF2-40B4-BE49-F238E27FC236}">
                <a16:creationId xmlns:a16="http://schemas.microsoft.com/office/drawing/2014/main" id="{D1FCC98A-0F42-4B53-5E0F-BE43801F6B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2971800" cy="2971800"/>
          </a:xfrm>
          <a:prstGeom prst="rect">
            <a:avLst/>
          </a:prstGeom>
        </p:spPr>
      </p:pic>
      <p:sp>
        <p:nvSpPr>
          <p:cNvPr id="19" name="Rectangle 18">
            <a:extLst>
              <a:ext uri="{FF2B5EF4-FFF2-40B4-BE49-F238E27FC236}">
                <a16:creationId xmlns:a16="http://schemas.microsoft.com/office/drawing/2014/main" id="{9C84BA7A-1D0F-DC1F-A14D-1E028FF07866}"/>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1</a:t>
            </a:r>
          </a:p>
        </p:txBody>
      </p:sp>
      <p:pic>
        <p:nvPicPr>
          <p:cNvPr id="5" name="Picture 4">
            <a:extLst>
              <a:ext uri="{FF2B5EF4-FFF2-40B4-BE49-F238E27FC236}">
                <a16:creationId xmlns:a16="http://schemas.microsoft.com/office/drawing/2014/main" id="{AF4A5AB6-4E79-1C25-FB3A-4F23523616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7400" y="-642938"/>
            <a:ext cx="6343650" cy="3571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0844E-A267-87DE-5888-45D53C24105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5D55C2E-247E-9C7E-5698-639138B1CAEB}"/>
              </a:ext>
            </a:extLst>
          </p:cNvPr>
          <p:cNvSpPr txBox="1">
            <a:spLocks noGrp="1"/>
          </p:cNvSpPr>
          <p:nvPr>
            <p:ph type="title"/>
          </p:nvPr>
        </p:nvSpPr>
        <p:spPr>
          <a:xfrm>
            <a:off x="4648200" y="956040"/>
            <a:ext cx="10896600" cy="3894600"/>
          </a:xfrm>
          <a:prstGeom prst="rect">
            <a:avLst/>
          </a:prstGeom>
        </p:spPr>
        <p:txBody>
          <a:bodyPr vert="horz" wrap="square" lIns="0" tIns="519375" rIns="0" bIns="0" rtlCol="0">
            <a:spAutoFit/>
          </a:bodyPr>
          <a:lstStyle/>
          <a:p>
            <a:pPr marL="48895">
              <a:lnSpc>
                <a:spcPct val="100000"/>
              </a:lnSpc>
              <a:spcBef>
                <a:spcPts val="100"/>
              </a:spcBef>
            </a:pPr>
            <a:r>
              <a:rPr lang="en-IN" sz="6000" dirty="0"/>
              <a:t>PROBLEM STATEMENT</a:t>
            </a:r>
            <a:br>
              <a:rPr lang="en-IN" sz="6000" dirty="0"/>
            </a:br>
            <a:br>
              <a:rPr lang="en-IN" sz="5500" dirty="0"/>
            </a:br>
            <a:br>
              <a:rPr lang="en-IN" dirty="0"/>
            </a:br>
            <a:endParaRPr spc="-20" dirty="0"/>
          </a:p>
        </p:txBody>
      </p:sp>
      <p:sp>
        <p:nvSpPr>
          <p:cNvPr id="14" name="object 14">
            <a:extLst>
              <a:ext uri="{FF2B5EF4-FFF2-40B4-BE49-F238E27FC236}">
                <a16:creationId xmlns:a16="http://schemas.microsoft.com/office/drawing/2014/main" id="{7382685E-6A00-2970-AB16-E28390DAA5CC}"/>
              </a:ext>
            </a:extLst>
          </p:cNvPr>
          <p:cNvSpPr txBox="1">
            <a:spLocks noGrp="1"/>
          </p:cNvSpPr>
          <p:nvPr>
            <p:ph type="body" idx="1"/>
          </p:nvPr>
        </p:nvSpPr>
        <p:spPr>
          <a:xfrm>
            <a:off x="1447800" y="3177779"/>
            <a:ext cx="15112683" cy="6809556"/>
          </a:xfrm>
          <a:prstGeom prst="rect">
            <a:avLst/>
          </a:prstGeom>
        </p:spPr>
        <p:txBody>
          <a:bodyPr vert="horz" wrap="square" lIns="0" tIns="12700" rIns="0" bIns="0" rtlCol="0">
            <a:spAutoFit/>
          </a:bodyPr>
          <a:lstStyle/>
          <a:p>
            <a:pPr marL="571500" indent="-571500" algn="just">
              <a:buFont typeface="Arial" panose="020B0604020202020204" pitchFamily="34" charset="0"/>
              <a:buChar char="•"/>
            </a:pPr>
            <a:r>
              <a:rPr lang="en-US" sz="4300" dirty="0">
                <a:latin typeface="Aparajita" panose="02020603050405020304" pitchFamily="18" charset="0"/>
                <a:cs typeface="Aparajita" panose="02020603050405020304" pitchFamily="18" charset="0"/>
              </a:rPr>
              <a:t>Agriculture plays a vital role in economic growth and food security. The quality of soil and the health of vegetation directly affect crop productivity and sustainability. Traditional methods of soil testing and vegetation assessment are manual, time-consuming, and expensive.</a:t>
            </a:r>
          </a:p>
          <a:p>
            <a:pPr marL="571500" indent="-571500" algn="just">
              <a:buFont typeface="Arial" panose="020B0604020202020204" pitchFamily="34" charset="0"/>
              <a:buChar char="•"/>
            </a:pPr>
            <a:r>
              <a:rPr lang="en-US" sz="4300" dirty="0">
                <a:latin typeface="Aparajita" panose="02020603050405020304" pitchFamily="18" charset="0"/>
                <a:cs typeface="Aparajita" panose="02020603050405020304" pitchFamily="18" charset="0"/>
              </a:rPr>
              <a:t>With the advancement of Artificial Intelligence and Computer Vision, image-based analysis has become an efficient alternative. </a:t>
            </a:r>
            <a:r>
              <a:rPr lang="en-US" sz="4300" dirty="0" err="1">
                <a:latin typeface="Aparajita" panose="02020603050405020304" pitchFamily="18" charset="0"/>
                <a:cs typeface="Aparajita" panose="02020603050405020304" pitchFamily="18" charset="0"/>
              </a:rPr>
              <a:t>AgroVision</a:t>
            </a:r>
            <a:r>
              <a:rPr lang="en-US" sz="4300" dirty="0">
                <a:latin typeface="Aparajita" panose="02020603050405020304" pitchFamily="18" charset="0"/>
                <a:cs typeface="Aparajita" panose="02020603050405020304" pitchFamily="18" charset="0"/>
              </a:rPr>
              <a:t> AI is designed to provide fast, accurate, and automated soil and vegetation analysis using deep learning models and image data.</a:t>
            </a:r>
          </a:p>
          <a:p>
            <a:pPr marL="453390" marR="5080" algn="ctr">
              <a:lnSpc>
                <a:spcPct val="100000"/>
              </a:lnSpc>
              <a:spcBef>
                <a:spcPts val="100"/>
              </a:spcBef>
            </a:pPr>
            <a:endParaRPr lang="en-IN" sz="4000" dirty="0">
              <a:latin typeface="Aparajita" panose="02020603050405020304" pitchFamily="18" charset="0"/>
              <a:cs typeface="Aparajita" panose="02020603050405020304" pitchFamily="18" charset="0"/>
            </a:endParaRPr>
          </a:p>
          <a:p>
            <a:pPr marL="453390" marR="5080" algn="ctr">
              <a:lnSpc>
                <a:spcPct val="100000"/>
              </a:lnSpc>
              <a:spcBef>
                <a:spcPts val="100"/>
              </a:spcBef>
            </a:pPr>
            <a:endParaRPr sz="4000" spc="-25" dirty="0">
              <a:latin typeface="Aparajita" panose="02020603050405020304" pitchFamily="18" charset="0"/>
              <a:cs typeface="Aparajita" panose="02020603050405020304" pitchFamily="18" charset="0"/>
            </a:endParaRPr>
          </a:p>
        </p:txBody>
      </p:sp>
      <p:pic>
        <p:nvPicPr>
          <p:cNvPr id="18" name="Picture 17">
            <a:extLst>
              <a:ext uri="{FF2B5EF4-FFF2-40B4-BE49-F238E27FC236}">
                <a16:creationId xmlns:a16="http://schemas.microsoft.com/office/drawing/2014/main" id="{330E05F8-8E41-4401-5443-312600C42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2971800" cy="2971800"/>
          </a:xfrm>
          <a:prstGeom prst="rect">
            <a:avLst/>
          </a:prstGeom>
        </p:spPr>
      </p:pic>
      <p:sp>
        <p:nvSpPr>
          <p:cNvPr id="19" name="Rectangle 18">
            <a:extLst>
              <a:ext uri="{FF2B5EF4-FFF2-40B4-BE49-F238E27FC236}">
                <a16:creationId xmlns:a16="http://schemas.microsoft.com/office/drawing/2014/main" id="{8A4DAC6B-59CF-01D4-59FB-08A29F61F4F5}"/>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2</a:t>
            </a:r>
          </a:p>
        </p:txBody>
      </p:sp>
      <p:pic>
        <p:nvPicPr>
          <p:cNvPr id="4" name="Picture 3">
            <a:extLst>
              <a:ext uri="{FF2B5EF4-FFF2-40B4-BE49-F238E27FC236}">
                <a16:creationId xmlns:a16="http://schemas.microsoft.com/office/drawing/2014/main" id="{485F5D88-93B4-3932-546E-E953937351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7400" y="-642938"/>
            <a:ext cx="6343650" cy="3571875"/>
          </a:xfrm>
          <a:prstGeom prst="rect">
            <a:avLst/>
          </a:prstGeom>
        </p:spPr>
      </p:pic>
    </p:spTree>
    <p:extLst>
      <p:ext uri="{BB962C8B-B14F-4D97-AF65-F5344CB8AC3E}">
        <p14:creationId xmlns:p14="http://schemas.microsoft.com/office/powerpoint/2010/main" val="3753734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4C607-DD59-275C-784E-BB28A5DBACA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E76093-61BE-0D75-33C5-5269E60E5C5E}"/>
              </a:ext>
            </a:extLst>
          </p:cNvPr>
          <p:cNvSpPr txBox="1">
            <a:spLocks noGrp="1"/>
          </p:cNvSpPr>
          <p:nvPr>
            <p:ph type="title"/>
          </p:nvPr>
        </p:nvSpPr>
        <p:spPr>
          <a:xfrm>
            <a:off x="6324600" y="962501"/>
            <a:ext cx="10896600" cy="3894600"/>
          </a:xfrm>
          <a:prstGeom prst="rect">
            <a:avLst/>
          </a:prstGeom>
        </p:spPr>
        <p:txBody>
          <a:bodyPr vert="horz" wrap="square" lIns="0" tIns="519375" rIns="0" bIns="0" rtlCol="0">
            <a:spAutoFit/>
          </a:bodyPr>
          <a:lstStyle/>
          <a:p>
            <a:pPr marL="48895">
              <a:lnSpc>
                <a:spcPct val="100000"/>
              </a:lnSpc>
              <a:spcBef>
                <a:spcPts val="100"/>
              </a:spcBef>
            </a:pPr>
            <a:r>
              <a:rPr lang="en-IN" sz="6000" dirty="0"/>
              <a:t>OBJECTIVES</a:t>
            </a:r>
            <a:br>
              <a:rPr lang="en-IN" sz="6000" dirty="0"/>
            </a:br>
            <a:br>
              <a:rPr lang="en-IN" sz="5500" dirty="0"/>
            </a:br>
            <a:br>
              <a:rPr lang="en-IN" dirty="0"/>
            </a:br>
            <a:endParaRPr spc="-20" dirty="0"/>
          </a:p>
        </p:txBody>
      </p:sp>
      <p:sp>
        <p:nvSpPr>
          <p:cNvPr id="14" name="object 14">
            <a:extLst>
              <a:ext uri="{FF2B5EF4-FFF2-40B4-BE49-F238E27FC236}">
                <a16:creationId xmlns:a16="http://schemas.microsoft.com/office/drawing/2014/main" id="{69F9ED28-4A40-D5D1-E49C-8E66E6EC9658}"/>
              </a:ext>
            </a:extLst>
          </p:cNvPr>
          <p:cNvSpPr txBox="1">
            <a:spLocks noGrp="1"/>
          </p:cNvSpPr>
          <p:nvPr>
            <p:ph type="body" idx="1"/>
          </p:nvPr>
        </p:nvSpPr>
        <p:spPr>
          <a:xfrm>
            <a:off x="2286000" y="3771900"/>
            <a:ext cx="17602200" cy="4578176"/>
          </a:xfrm>
          <a:prstGeom prst="rect">
            <a:avLst/>
          </a:prstGeom>
        </p:spPr>
        <p:txBody>
          <a:bodyPr vert="horz" wrap="square" lIns="0" tIns="12700" rIns="0" bIns="0" rtlCol="0">
            <a:spAutoFit/>
          </a:bodyPr>
          <a:lstStyle/>
          <a:p>
            <a:pPr marL="571500" indent="-571500" algn="just">
              <a:buFont typeface="Arial" panose="020B0604020202020204" pitchFamily="34" charset="0"/>
              <a:buChar char="•"/>
            </a:pPr>
            <a:r>
              <a:rPr lang="en-US" sz="4300" dirty="0">
                <a:latin typeface="Aparajita" panose="02020603050405020304" pitchFamily="18" charset="0"/>
                <a:cs typeface="Aparajita" panose="02020603050405020304" pitchFamily="18" charset="0"/>
              </a:rPr>
              <a:t>To identify different soil types using image-based analysis</a:t>
            </a:r>
          </a:p>
          <a:p>
            <a:pPr marL="571500" indent="-571500" algn="just">
              <a:buFont typeface="Arial" panose="020B0604020202020204" pitchFamily="34" charset="0"/>
              <a:buChar char="•"/>
            </a:pPr>
            <a:r>
              <a:rPr lang="en-US" sz="4300" dirty="0">
                <a:latin typeface="Aparajita" panose="02020603050405020304" pitchFamily="18" charset="0"/>
                <a:cs typeface="Aparajita" panose="02020603050405020304" pitchFamily="18" charset="0"/>
              </a:rPr>
              <a:t>To calculate vegetation and non-vegetation coverage accurately</a:t>
            </a:r>
          </a:p>
          <a:p>
            <a:pPr marL="571500" indent="-571500" algn="just">
              <a:buFont typeface="Arial" panose="020B0604020202020204" pitchFamily="34" charset="0"/>
              <a:buChar char="•"/>
            </a:pPr>
            <a:r>
              <a:rPr lang="en-US" sz="4300" dirty="0">
                <a:latin typeface="Aparajita" panose="02020603050405020304" pitchFamily="18" charset="0"/>
                <a:cs typeface="Aparajita" panose="02020603050405020304" pitchFamily="18" charset="0"/>
              </a:rPr>
              <a:t>To reduce dependency on manual soil testing</a:t>
            </a:r>
          </a:p>
          <a:p>
            <a:pPr marL="571500" indent="-571500" algn="just">
              <a:buFont typeface="Arial" panose="020B0604020202020204" pitchFamily="34" charset="0"/>
              <a:buChar char="•"/>
            </a:pPr>
            <a:r>
              <a:rPr lang="en-US" sz="4300" dirty="0">
                <a:latin typeface="Aparajita" panose="02020603050405020304" pitchFamily="18" charset="0"/>
                <a:cs typeface="Aparajita" panose="02020603050405020304" pitchFamily="18" charset="0"/>
              </a:rPr>
              <a:t>To provide a user-friendly and interactive dashboard</a:t>
            </a:r>
          </a:p>
          <a:p>
            <a:pPr marL="571500" indent="-571500" algn="just">
              <a:buFont typeface="Arial" panose="020B0604020202020204" pitchFamily="34" charset="0"/>
              <a:buChar char="•"/>
            </a:pPr>
            <a:r>
              <a:rPr lang="en-US" sz="4300" dirty="0">
                <a:latin typeface="Aparajita" panose="02020603050405020304" pitchFamily="18" charset="0"/>
                <a:cs typeface="Aparajita" panose="02020603050405020304" pitchFamily="18" charset="0"/>
              </a:rPr>
              <a:t>To support precision agriculture and smart decision-making</a:t>
            </a:r>
          </a:p>
          <a:p>
            <a:pPr marL="1024890" marR="5080" indent="-571500" algn="just">
              <a:lnSpc>
                <a:spcPct val="100000"/>
              </a:lnSpc>
              <a:spcBef>
                <a:spcPts val="100"/>
              </a:spcBef>
              <a:buFont typeface="Arial" panose="020B0604020202020204" pitchFamily="34" charset="0"/>
              <a:buChar char="•"/>
            </a:pPr>
            <a:endParaRPr lang="en-IN" sz="4000" dirty="0">
              <a:latin typeface="Aparajita" panose="02020603050405020304" pitchFamily="18" charset="0"/>
              <a:cs typeface="Aparajita" panose="02020603050405020304" pitchFamily="18" charset="0"/>
            </a:endParaRPr>
          </a:p>
          <a:p>
            <a:pPr marL="453390" marR="5080" algn="ctr">
              <a:lnSpc>
                <a:spcPct val="100000"/>
              </a:lnSpc>
              <a:spcBef>
                <a:spcPts val="100"/>
              </a:spcBef>
            </a:pPr>
            <a:endParaRPr sz="4000" spc="-25" dirty="0">
              <a:latin typeface="Aparajita" panose="02020603050405020304" pitchFamily="18" charset="0"/>
              <a:cs typeface="Aparajita" panose="02020603050405020304" pitchFamily="18" charset="0"/>
            </a:endParaRPr>
          </a:p>
        </p:txBody>
      </p:sp>
      <p:pic>
        <p:nvPicPr>
          <p:cNvPr id="18" name="Picture 17">
            <a:extLst>
              <a:ext uri="{FF2B5EF4-FFF2-40B4-BE49-F238E27FC236}">
                <a16:creationId xmlns:a16="http://schemas.microsoft.com/office/drawing/2014/main" id="{5C62E3CE-AF72-10A6-9E50-D3F2941FCD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2971800" cy="2971800"/>
          </a:xfrm>
          <a:prstGeom prst="rect">
            <a:avLst/>
          </a:prstGeom>
        </p:spPr>
      </p:pic>
      <p:sp>
        <p:nvSpPr>
          <p:cNvPr id="19" name="Rectangle 18">
            <a:extLst>
              <a:ext uri="{FF2B5EF4-FFF2-40B4-BE49-F238E27FC236}">
                <a16:creationId xmlns:a16="http://schemas.microsoft.com/office/drawing/2014/main" id="{1925FE22-00E7-B3EA-699B-45C02E9F1D55}"/>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3</a:t>
            </a:r>
          </a:p>
        </p:txBody>
      </p:sp>
      <p:pic>
        <p:nvPicPr>
          <p:cNvPr id="4" name="Picture 3">
            <a:extLst>
              <a:ext uri="{FF2B5EF4-FFF2-40B4-BE49-F238E27FC236}">
                <a16:creationId xmlns:a16="http://schemas.microsoft.com/office/drawing/2014/main" id="{B725E503-EC79-E757-9744-0FFFF89BD4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7400" y="-642938"/>
            <a:ext cx="6343650" cy="3571875"/>
          </a:xfrm>
          <a:prstGeom prst="rect">
            <a:avLst/>
          </a:prstGeom>
        </p:spPr>
      </p:pic>
    </p:spTree>
    <p:extLst>
      <p:ext uri="{BB962C8B-B14F-4D97-AF65-F5344CB8AC3E}">
        <p14:creationId xmlns:p14="http://schemas.microsoft.com/office/powerpoint/2010/main" val="2930929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BD79A-0E50-C6B9-88A6-F8D12BA3A60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62D7DEB-A3FA-D9B8-1424-F852C9DB4BD7}"/>
              </a:ext>
            </a:extLst>
          </p:cNvPr>
          <p:cNvSpPr txBox="1">
            <a:spLocks noGrp="1"/>
          </p:cNvSpPr>
          <p:nvPr>
            <p:ph type="title"/>
          </p:nvPr>
        </p:nvSpPr>
        <p:spPr>
          <a:xfrm>
            <a:off x="6248400" y="609690"/>
            <a:ext cx="10896600" cy="3894600"/>
          </a:xfrm>
          <a:prstGeom prst="rect">
            <a:avLst/>
          </a:prstGeom>
        </p:spPr>
        <p:txBody>
          <a:bodyPr vert="horz" wrap="square" lIns="0" tIns="519375" rIns="0" bIns="0" rtlCol="0">
            <a:spAutoFit/>
          </a:bodyPr>
          <a:lstStyle/>
          <a:p>
            <a:pPr marL="48895">
              <a:lnSpc>
                <a:spcPct val="100000"/>
              </a:lnSpc>
              <a:spcBef>
                <a:spcPts val="100"/>
              </a:spcBef>
            </a:pPr>
            <a:r>
              <a:rPr lang="en-IN" sz="6000" dirty="0"/>
              <a:t>METHODLOGY</a:t>
            </a:r>
            <a:br>
              <a:rPr lang="en-IN" sz="6000" dirty="0"/>
            </a:br>
            <a:br>
              <a:rPr lang="en-IN" sz="5500" dirty="0"/>
            </a:br>
            <a:br>
              <a:rPr lang="en-IN" dirty="0"/>
            </a:br>
            <a:endParaRPr spc="-20" dirty="0"/>
          </a:p>
        </p:txBody>
      </p:sp>
      <p:sp>
        <p:nvSpPr>
          <p:cNvPr id="14" name="object 14">
            <a:extLst>
              <a:ext uri="{FF2B5EF4-FFF2-40B4-BE49-F238E27FC236}">
                <a16:creationId xmlns:a16="http://schemas.microsoft.com/office/drawing/2014/main" id="{4345B96E-C878-060F-0FBC-0830D707D3E4}"/>
              </a:ext>
            </a:extLst>
          </p:cNvPr>
          <p:cNvSpPr txBox="1">
            <a:spLocks noGrp="1"/>
          </p:cNvSpPr>
          <p:nvPr>
            <p:ph type="body" idx="1"/>
          </p:nvPr>
        </p:nvSpPr>
        <p:spPr>
          <a:xfrm>
            <a:off x="838200" y="2701924"/>
            <a:ext cx="16789083" cy="6796732"/>
          </a:xfrm>
          <a:prstGeom prst="rect">
            <a:avLst/>
          </a:prstGeom>
        </p:spPr>
        <p:txBody>
          <a:bodyPr vert="horz" wrap="square" lIns="0" tIns="12700" rIns="0" bIns="0" rtlCol="0">
            <a:spAutoFit/>
          </a:bodyPr>
          <a:lstStyle/>
          <a:p>
            <a:pPr marL="571500" indent="-571500" algn="just">
              <a:buFont typeface="Arial" panose="020B0604020202020204" pitchFamily="34" charset="0"/>
              <a:buChar char="•"/>
            </a:pPr>
            <a:r>
              <a:rPr lang="en-US" sz="4000" dirty="0">
                <a:latin typeface="Aparajita" panose="02020603050405020304" pitchFamily="18" charset="0"/>
                <a:cs typeface="Aparajita" panose="02020603050405020304" pitchFamily="18" charset="0"/>
              </a:rPr>
              <a:t>The methodology begins with collecting and preparing image datasets. Images are preprocessed through resizing, normalization, and augmentation to improve model performance.</a:t>
            </a:r>
          </a:p>
          <a:p>
            <a:pPr marL="571500" indent="-571500" algn="just">
              <a:buFont typeface="Arial" panose="020B0604020202020204" pitchFamily="34" charset="0"/>
              <a:buChar char="•"/>
            </a:pPr>
            <a:r>
              <a:rPr lang="en-US" sz="4000" dirty="0">
                <a:latin typeface="Aparajita" panose="02020603050405020304" pitchFamily="18" charset="0"/>
                <a:cs typeface="Aparajita" panose="02020603050405020304" pitchFamily="18" charset="0"/>
              </a:rPr>
              <a:t>For vegetation analysis, a DeepLabV3+ semantic segmentation model is trained to classify each pixel as vegetation or non-vegetation. This allows precise calculation of vegetation coverage percentage.</a:t>
            </a:r>
          </a:p>
          <a:p>
            <a:pPr marL="571500" indent="-571500" algn="just">
              <a:buFont typeface="Arial" panose="020B0604020202020204" pitchFamily="34" charset="0"/>
              <a:buChar char="•"/>
            </a:pPr>
            <a:r>
              <a:rPr lang="en-US" sz="4000" dirty="0">
                <a:latin typeface="Aparajita" panose="02020603050405020304" pitchFamily="18" charset="0"/>
                <a:cs typeface="Aparajita" panose="02020603050405020304" pitchFamily="18" charset="0"/>
              </a:rPr>
              <a:t>For soil detection, a YOLOv8 object detection model identifies soil regions and classifies them into soil types. The dominant soil is determined based on confidence scores, and coverage is calculated using bounding box areas.</a:t>
            </a:r>
          </a:p>
          <a:p>
            <a:pPr marL="571500" indent="-571500" algn="just">
              <a:buFont typeface="Arial" panose="020B0604020202020204" pitchFamily="34" charset="0"/>
              <a:buChar char="•"/>
            </a:pPr>
            <a:r>
              <a:rPr lang="en-US" sz="4000" dirty="0">
                <a:latin typeface="Aparajita" panose="02020603050405020304" pitchFamily="18" charset="0"/>
                <a:cs typeface="Aparajita" panose="02020603050405020304" pitchFamily="18" charset="0"/>
              </a:rPr>
              <a:t>Both models are integrated into a </a:t>
            </a:r>
            <a:r>
              <a:rPr lang="en-US" sz="4000" dirty="0" err="1">
                <a:latin typeface="Aparajita" panose="02020603050405020304" pitchFamily="18" charset="0"/>
                <a:cs typeface="Aparajita" panose="02020603050405020304" pitchFamily="18" charset="0"/>
              </a:rPr>
              <a:t>Streamlit</a:t>
            </a:r>
            <a:r>
              <a:rPr lang="en-US" sz="4000" dirty="0">
                <a:latin typeface="Aparajita" panose="02020603050405020304" pitchFamily="18" charset="0"/>
                <a:cs typeface="Aparajita" panose="02020603050405020304" pitchFamily="18" charset="0"/>
              </a:rPr>
              <a:t> dashboard, enabling real-time predictions through image uploads.</a:t>
            </a:r>
          </a:p>
          <a:p>
            <a:pPr marL="453390" marR="5080" algn="ctr">
              <a:lnSpc>
                <a:spcPct val="100000"/>
              </a:lnSpc>
              <a:spcBef>
                <a:spcPts val="100"/>
              </a:spcBef>
            </a:pPr>
            <a:endParaRPr sz="4000" spc="-25" dirty="0">
              <a:latin typeface="Aparajita" panose="02020603050405020304" pitchFamily="18" charset="0"/>
              <a:cs typeface="Aparajita" panose="02020603050405020304" pitchFamily="18" charset="0"/>
            </a:endParaRPr>
          </a:p>
        </p:txBody>
      </p:sp>
      <p:pic>
        <p:nvPicPr>
          <p:cNvPr id="18" name="Picture 17">
            <a:extLst>
              <a:ext uri="{FF2B5EF4-FFF2-40B4-BE49-F238E27FC236}">
                <a16:creationId xmlns:a16="http://schemas.microsoft.com/office/drawing/2014/main" id="{03BB6CD6-2C0C-BEBE-3613-0D3E0DDFCE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2971800" cy="2971800"/>
          </a:xfrm>
          <a:prstGeom prst="rect">
            <a:avLst/>
          </a:prstGeom>
        </p:spPr>
      </p:pic>
      <p:sp>
        <p:nvSpPr>
          <p:cNvPr id="19" name="Rectangle 18">
            <a:extLst>
              <a:ext uri="{FF2B5EF4-FFF2-40B4-BE49-F238E27FC236}">
                <a16:creationId xmlns:a16="http://schemas.microsoft.com/office/drawing/2014/main" id="{70BD1461-E07D-D5C3-124F-2F21D8DE2AAD}"/>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4</a:t>
            </a:r>
          </a:p>
        </p:txBody>
      </p:sp>
      <p:pic>
        <p:nvPicPr>
          <p:cNvPr id="4" name="Picture 3">
            <a:extLst>
              <a:ext uri="{FF2B5EF4-FFF2-40B4-BE49-F238E27FC236}">
                <a16:creationId xmlns:a16="http://schemas.microsoft.com/office/drawing/2014/main" id="{5B4B7D49-8EA6-78BB-4E8B-FF81AD5B1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7400" y="-642938"/>
            <a:ext cx="6343650" cy="3571875"/>
          </a:xfrm>
          <a:prstGeom prst="rect">
            <a:avLst/>
          </a:prstGeom>
        </p:spPr>
      </p:pic>
    </p:spTree>
    <p:extLst>
      <p:ext uri="{BB962C8B-B14F-4D97-AF65-F5344CB8AC3E}">
        <p14:creationId xmlns:p14="http://schemas.microsoft.com/office/powerpoint/2010/main" val="1560324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39BF1-A1C8-A830-0650-8BF6CFF9BE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542C38D-61CC-75D8-AE28-7CF5184B65DE}"/>
              </a:ext>
            </a:extLst>
          </p:cNvPr>
          <p:cNvSpPr txBox="1">
            <a:spLocks noGrp="1"/>
          </p:cNvSpPr>
          <p:nvPr>
            <p:ph type="title"/>
          </p:nvPr>
        </p:nvSpPr>
        <p:spPr>
          <a:xfrm>
            <a:off x="4800600" y="800100"/>
            <a:ext cx="10896600" cy="3894600"/>
          </a:xfrm>
          <a:prstGeom prst="rect">
            <a:avLst/>
          </a:prstGeom>
        </p:spPr>
        <p:txBody>
          <a:bodyPr vert="horz" wrap="square" lIns="0" tIns="519375" rIns="0" bIns="0" rtlCol="0">
            <a:spAutoFit/>
          </a:bodyPr>
          <a:lstStyle/>
          <a:p>
            <a:pPr marL="48895">
              <a:lnSpc>
                <a:spcPct val="100000"/>
              </a:lnSpc>
              <a:spcBef>
                <a:spcPts val="100"/>
              </a:spcBef>
            </a:pPr>
            <a:r>
              <a:rPr lang="en-IN" sz="6000" dirty="0"/>
              <a:t>PROPOSED SOLUTION</a:t>
            </a:r>
            <a:br>
              <a:rPr lang="en-IN" sz="6000" dirty="0"/>
            </a:br>
            <a:br>
              <a:rPr lang="en-IN" sz="5500" dirty="0"/>
            </a:br>
            <a:br>
              <a:rPr lang="en-IN" dirty="0"/>
            </a:br>
            <a:endParaRPr spc="-20" dirty="0"/>
          </a:p>
        </p:txBody>
      </p:sp>
      <p:sp>
        <p:nvSpPr>
          <p:cNvPr id="14" name="object 14">
            <a:extLst>
              <a:ext uri="{FF2B5EF4-FFF2-40B4-BE49-F238E27FC236}">
                <a16:creationId xmlns:a16="http://schemas.microsoft.com/office/drawing/2014/main" id="{A1EDBAD4-1BA5-11B9-D48A-5DF7A95F5872}"/>
              </a:ext>
            </a:extLst>
          </p:cNvPr>
          <p:cNvSpPr txBox="1">
            <a:spLocks noGrp="1"/>
          </p:cNvSpPr>
          <p:nvPr>
            <p:ph type="body" idx="1"/>
          </p:nvPr>
        </p:nvSpPr>
        <p:spPr>
          <a:xfrm>
            <a:off x="1957388" y="3323580"/>
            <a:ext cx="14578012" cy="4519186"/>
          </a:xfrm>
          <a:prstGeom prst="rect">
            <a:avLst/>
          </a:prstGeom>
        </p:spPr>
        <p:txBody>
          <a:bodyPr vert="horz" wrap="square" lIns="0" tIns="12700" rIns="0" bIns="0" rtlCol="0">
            <a:spAutoFit/>
          </a:bodyPr>
          <a:lstStyle/>
          <a:p>
            <a:pPr marL="571500" indent="-571500" algn="just">
              <a:buFont typeface="Arial" panose="020B0604020202020204" pitchFamily="34" charset="0"/>
              <a:buChar char="•"/>
            </a:pPr>
            <a:r>
              <a:rPr lang="en-US" sz="4200" dirty="0" err="1">
                <a:latin typeface="Aparajita" panose="02020603050405020304" pitchFamily="18" charset="0"/>
                <a:cs typeface="Aparajita" panose="02020603050405020304" pitchFamily="18" charset="0"/>
              </a:rPr>
              <a:t>AgroVision</a:t>
            </a:r>
            <a:r>
              <a:rPr lang="en-US" sz="4200" dirty="0">
                <a:latin typeface="Aparajita" panose="02020603050405020304" pitchFamily="18" charset="0"/>
                <a:cs typeface="Aparajita" panose="02020603050405020304" pitchFamily="18" charset="0"/>
              </a:rPr>
              <a:t> AI is a deep learning–based analytical platform designed to evaluate soil characteristics and vegetation patterns using satellite or land images. The system integrates powerful AI models with an interactive web dashboard to deliver instant insights.</a:t>
            </a:r>
          </a:p>
          <a:p>
            <a:pPr marL="571500" indent="-571500" algn="just">
              <a:buFont typeface="Arial" panose="020B0604020202020204" pitchFamily="34" charset="0"/>
              <a:buChar char="•"/>
            </a:pPr>
            <a:r>
              <a:rPr lang="en-US" sz="4200" dirty="0">
                <a:latin typeface="Aparajita" panose="02020603050405020304" pitchFamily="18" charset="0"/>
                <a:cs typeface="Aparajita" panose="02020603050405020304" pitchFamily="18" charset="0"/>
              </a:rPr>
              <a:t>It enables users to upload images and receive accurate predictions such as soil type, confidence score, vegetation percentage, and coverage area.</a:t>
            </a:r>
          </a:p>
          <a:p>
            <a:pPr marL="453390" marR="5080" algn="ctr">
              <a:lnSpc>
                <a:spcPct val="100000"/>
              </a:lnSpc>
              <a:spcBef>
                <a:spcPts val="100"/>
              </a:spcBef>
            </a:pPr>
            <a:endParaRPr sz="4000" spc="-25" dirty="0">
              <a:latin typeface="Aparajita" panose="02020603050405020304" pitchFamily="18" charset="0"/>
              <a:cs typeface="Aparajita" panose="02020603050405020304" pitchFamily="18" charset="0"/>
            </a:endParaRPr>
          </a:p>
        </p:txBody>
      </p:sp>
      <p:pic>
        <p:nvPicPr>
          <p:cNvPr id="18" name="Picture 17">
            <a:extLst>
              <a:ext uri="{FF2B5EF4-FFF2-40B4-BE49-F238E27FC236}">
                <a16:creationId xmlns:a16="http://schemas.microsoft.com/office/drawing/2014/main" id="{400058BE-B05E-F01C-5783-9707559BDD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2971800" cy="2971800"/>
          </a:xfrm>
          <a:prstGeom prst="rect">
            <a:avLst/>
          </a:prstGeom>
        </p:spPr>
      </p:pic>
      <p:sp>
        <p:nvSpPr>
          <p:cNvPr id="19" name="Rectangle 18">
            <a:extLst>
              <a:ext uri="{FF2B5EF4-FFF2-40B4-BE49-F238E27FC236}">
                <a16:creationId xmlns:a16="http://schemas.microsoft.com/office/drawing/2014/main" id="{76A488AE-97E3-0335-4BA6-6A1F0015F4DB}"/>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5</a:t>
            </a:r>
          </a:p>
        </p:txBody>
      </p:sp>
      <p:pic>
        <p:nvPicPr>
          <p:cNvPr id="3" name="Picture 2">
            <a:extLst>
              <a:ext uri="{FF2B5EF4-FFF2-40B4-BE49-F238E27FC236}">
                <a16:creationId xmlns:a16="http://schemas.microsoft.com/office/drawing/2014/main" id="{9CD42683-8345-5C5F-F847-22AD25F760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7400" y="-642938"/>
            <a:ext cx="6343650" cy="3571875"/>
          </a:xfrm>
          <a:prstGeom prst="rect">
            <a:avLst/>
          </a:prstGeom>
        </p:spPr>
      </p:pic>
    </p:spTree>
    <p:extLst>
      <p:ext uri="{BB962C8B-B14F-4D97-AF65-F5344CB8AC3E}">
        <p14:creationId xmlns:p14="http://schemas.microsoft.com/office/powerpoint/2010/main" val="2014815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90D93-2E34-AAF0-4AFF-C9A25D0D6D7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25EAFA8-830B-3E7F-B7AA-F6C5F405C688}"/>
              </a:ext>
            </a:extLst>
          </p:cNvPr>
          <p:cNvSpPr txBox="1">
            <a:spLocks noGrp="1"/>
          </p:cNvSpPr>
          <p:nvPr>
            <p:ph type="title"/>
          </p:nvPr>
        </p:nvSpPr>
        <p:spPr>
          <a:xfrm>
            <a:off x="6400800" y="366812"/>
            <a:ext cx="10896600" cy="3894600"/>
          </a:xfrm>
          <a:prstGeom prst="rect">
            <a:avLst/>
          </a:prstGeom>
        </p:spPr>
        <p:txBody>
          <a:bodyPr vert="horz" wrap="square" lIns="0" tIns="519375" rIns="0" bIns="0" rtlCol="0">
            <a:spAutoFit/>
          </a:bodyPr>
          <a:lstStyle/>
          <a:p>
            <a:pPr marL="48895">
              <a:lnSpc>
                <a:spcPct val="100000"/>
              </a:lnSpc>
              <a:spcBef>
                <a:spcPts val="100"/>
              </a:spcBef>
            </a:pPr>
            <a:r>
              <a:rPr lang="en-IN" sz="6000" dirty="0"/>
              <a:t>TECH STACK </a:t>
            </a:r>
            <a:br>
              <a:rPr lang="en-IN" sz="6000" dirty="0"/>
            </a:br>
            <a:br>
              <a:rPr lang="en-IN" sz="5500" dirty="0"/>
            </a:br>
            <a:br>
              <a:rPr lang="en-IN" dirty="0"/>
            </a:br>
            <a:endParaRPr spc="-20" dirty="0"/>
          </a:p>
        </p:txBody>
      </p:sp>
      <p:sp>
        <p:nvSpPr>
          <p:cNvPr id="14" name="object 14">
            <a:extLst>
              <a:ext uri="{FF2B5EF4-FFF2-40B4-BE49-F238E27FC236}">
                <a16:creationId xmlns:a16="http://schemas.microsoft.com/office/drawing/2014/main" id="{444719E4-1FD2-4972-4FD1-5755A175544C}"/>
              </a:ext>
            </a:extLst>
          </p:cNvPr>
          <p:cNvSpPr txBox="1">
            <a:spLocks noGrp="1"/>
          </p:cNvSpPr>
          <p:nvPr>
            <p:ph type="body" idx="1"/>
          </p:nvPr>
        </p:nvSpPr>
        <p:spPr>
          <a:xfrm>
            <a:off x="590550" y="2476500"/>
            <a:ext cx="16687800" cy="9977090"/>
          </a:xfrm>
          <a:prstGeom prst="rect">
            <a:avLst/>
          </a:prstGeom>
        </p:spPr>
        <p:txBody>
          <a:bodyPr vert="horz" wrap="square" lIns="0" tIns="12700" rIns="0" bIns="0" rtlCol="0">
            <a:spAutoFit/>
          </a:bodyPr>
          <a:lstStyle/>
          <a:p>
            <a:pPr marL="1024890" marR="5080" indent="-571500" algn="just">
              <a:lnSpc>
                <a:spcPct val="100000"/>
              </a:lnSpc>
              <a:spcBef>
                <a:spcPts val="100"/>
              </a:spcBef>
              <a:buFont typeface="Arial" panose="020B0604020202020204" pitchFamily="34" charset="0"/>
              <a:buChar char="•"/>
            </a:pPr>
            <a:r>
              <a:rPr lang="en-IN" sz="4000" b="1" spc="-25" dirty="0">
                <a:latin typeface="Aparajita" panose="02020603050405020304" pitchFamily="18" charset="0"/>
                <a:cs typeface="Aparajita" panose="02020603050405020304" pitchFamily="18" charset="0"/>
              </a:rPr>
              <a:t>Programming Language (Python):</a:t>
            </a:r>
            <a:r>
              <a:rPr lang="en-IN" sz="4000" spc="-25" dirty="0">
                <a:latin typeface="Aparajita" panose="02020603050405020304" pitchFamily="18" charset="0"/>
                <a:cs typeface="Aparajita" panose="02020603050405020304" pitchFamily="18" charset="0"/>
              </a:rPr>
              <a:t>Primary Language used for Model </a:t>
            </a:r>
            <a:r>
              <a:rPr lang="en-IN" sz="4000" spc="-25" dirty="0" err="1">
                <a:latin typeface="Aparajita" panose="02020603050405020304" pitchFamily="18" charset="0"/>
                <a:cs typeface="Aparajita" panose="02020603050405020304" pitchFamily="18" charset="0"/>
              </a:rPr>
              <a:t>Training,Inference</a:t>
            </a:r>
            <a:r>
              <a:rPr lang="en-IN" sz="4000" spc="-25" dirty="0">
                <a:latin typeface="Aparajita" panose="02020603050405020304" pitchFamily="18" charset="0"/>
                <a:cs typeface="Aparajita" panose="02020603050405020304" pitchFamily="18" charset="0"/>
              </a:rPr>
              <a:t>,&amp; Backend Logic.</a:t>
            </a:r>
          </a:p>
          <a:p>
            <a:pPr marL="1024890" marR="5080" indent="-571500" algn="just">
              <a:lnSpc>
                <a:spcPct val="100000"/>
              </a:lnSpc>
              <a:spcBef>
                <a:spcPts val="100"/>
              </a:spcBef>
              <a:buFont typeface="Arial" panose="020B0604020202020204" pitchFamily="34" charset="0"/>
              <a:buChar char="•"/>
            </a:pPr>
            <a:r>
              <a:rPr lang="en-IN" sz="4000" b="1" spc="-25" dirty="0">
                <a:latin typeface="Aparajita" panose="02020603050405020304" pitchFamily="18" charset="0"/>
                <a:cs typeface="Aparajita" panose="02020603050405020304" pitchFamily="18" charset="0"/>
              </a:rPr>
              <a:t>AI &amp; Deep Learning: </a:t>
            </a:r>
          </a:p>
          <a:p>
            <a:pPr marL="453390" marR="5080" algn="l">
              <a:lnSpc>
                <a:spcPct val="100000"/>
              </a:lnSpc>
              <a:spcBef>
                <a:spcPts val="100"/>
              </a:spcBef>
            </a:pPr>
            <a:r>
              <a:rPr lang="en-IN" sz="4000" spc="-25" dirty="0">
                <a:latin typeface="Aparajita" panose="02020603050405020304" pitchFamily="18" charset="0"/>
                <a:cs typeface="Aparajita" panose="02020603050405020304" pitchFamily="18" charset="0"/>
              </a:rPr>
              <a:t>       1.Semantic Segmentation-DeeplabV3+(Vegetation Analysis)</a:t>
            </a:r>
          </a:p>
          <a:p>
            <a:pPr marL="453390" marR="5080" algn="l">
              <a:lnSpc>
                <a:spcPct val="100000"/>
              </a:lnSpc>
              <a:spcBef>
                <a:spcPts val="100"/>
              </a:spcBef>
            </a:pPr>
            <a:r>
              <a:rPr lang="en-IN" sz="4000" spc="-25" dirty="0">
                <a:latin typeface="Aparajita" panose="02020603050405020304" pitchFamily="18" charset="0"/>
                <a:cs typeface="Aparajita" panose="02020603050405020304" pitchFamily="18" charset="0"/>
              </a:rPr>
              <a:t>       2.Object Detection- YOLOv8(Soil Detection)</a:t>
            </a:r>
          </a:p>
          <a:p>
            <a:pPr marL="1024890" marR="5080" indent="-571500" algn="l">
              <a:lnSpc>
                <a:spcPct val="100000"/>
              </a:lnSpc>
              <a:spcBef>
                <a:spcPts val="100"/>
              </a:spcBef>
              <a:buFont typeface="Arial" panose="020B0604020202020204" pitchFamily="34" charset="0"/>
              <a:buChar char="•"/>
            </a:pPr>
            <a:r>
              <a:rPr lang="en-IN" sz="4000" b="1" spc="-25" dirty="0">
                <a:latin typeface="Aparajita" panose="02020603050405020304" pitchFamily="18" charset="0"/>
                <a:cs typeface="Aparajita" panose="02020603050405020304" pitchFamily="18" charset="0"/>
              </a:rPr>
              <a:t>Image Processing:</a:t>
            </a:r>
          </a:p>
          <a:p>
            <a:r>
              <a:rPr lang="en-IN" sz="4000" b="1" spc="-25" dirty="0">
                <a:latin typeface="Aparajita" panose="02020603050405020304" pitchFamily="18" charset="0"/>
                <a:cs typeface="Aparajita" panose="02020603050405020304" pitchFamily="18" charset="0"/>
              </a:rPr>
              <a:t>            </a:t>
            </a:r>
            <a:r>
              <a:rPr lang="en-IN" sz="4000" spc="-25" dirty="0">
                <a:latin typeface="Aparajita" panose="02020603050405020304" pitchFamily="18" charset="0"/>
                <a:cs typeface="Aparajita" panose="02020603050405020304" pitchFamily="18" charset="0"/>
              </a:rPr>
              <a:t>OpenCV:</a:t>
            </a:r>
            <a:r>
              <a:rPr lang="en-US" sz="4000" dirty="0">
                <a:latin typeface="Aparajita" panose="02020603050405020304" pitchFamily="18" charset="0"/>
                <a:cs typeface="Aparajita" panose="02020603050405020304" pitchFamily="18" charset="0"/>
              </a:rPr>
              <a:t>Used for image loading, format conversion, and display handling</a:t>
            </a:r>
            <a:r>
              <a:rPr lang="en-US" sz="4000" dirty="0"/>
              <a:t>.                                              </a:t>
            </a:r>
            <a:endParaRPr lang="en-US" sz="4000" dirty="0">
              <a:latin typeface="Aparajita" panose="02020603050405020304" pitchFamily="18" charset="0"/>
              <a:cs typeface="Aparajita" panose="02020603050405020304" pitchFamily="18" charset="0"/>
            </a:endParaRPr>
          </a:p>
          <a:p>
            <a:pPr marL="1024890" marR="5080" indent="-571500" algn="l">
              <a:lnSpc>
                <a:spcPct val="100000"/>
              </a:lnSpc>
              <a:spcBef>
                <a:spcPts val="100"/>
              </a:spcBef>
              <a:buFont typeface="Arial" panose="020B0604020202020204" pitchFamily="34" charset="0"/>
              <a:buChar char="•"/>
            </a:pPr>
            <a:r>
              <a:rPr lang="en-IN" sz="4000" b="1" dirty="0">
                <a:latin typeface="Aparajita" panose="02020603050405020304" pitchFamily="18" charset="0"/>
                <a:cs typeface="Aparajita" panose="02020603050405020304" pitchFamily="18" charset="0"/>
              </a:rPr>
              <a:t>Frameworks &amp; Libraries:</a:t>
            </a:r>
            <a:endParaRPr lang="en-IN" sz="4000" dirty="0">
              <a:latin typeface="Aparajita" panose="02020603050405020304" pitchFamily="18" charset="0"/>
              <a:cs typeface="Aparajita" panose="02020603050405020304" pitchFamily="18" charset="0"/>
            </a:endParaRPr>
          </a:p>
          <a:p>
            <a:r>
              <a:rPr lang="en-IN" sz="4000" dirty="0">
                <a:latin typeface="Aparajita" panose="02020603050405020304" pitchFamily="18" charset="0"/>
                <a:cs typeface="Aparajita" panose="02020603050405020304" pitchFamily="18" charset="0"/>
              </a:rPr>
              <a:t>          1.TensorFlow, </a:t>
            </a:r>
            <a:r>
              <a:rPr lang="en-IN" sz="4000" dirty="0" err="1">
                <a:latin typeface="Aparajita" panose="02020603050405020304" pitchFamily="18" charset="0"/>
                <a:cs typeface="Aparajita" panose="02020603050405020304" pitchFamily="18" charset="0"/>
              </a:rPr>
              <a:t>Keras</a:t>
            </a:r>
            <a:endParaRPr lang="en-IN" sz="4000" dirty="0">
              <a:latin typeface="Aparajita" panose="02020603050405020304" pitchFamily="18" charset="0"/>
              <a:cs typeface="Aparajita" panose="02020603050405020304" pitchFamily="18" charset="0"/>
            </a:endParaRPr>
          </a:p>
          <a:p>
            <a:r>
              <a:rPr lang="en-IN" sz="4000" dirty="0">
                <a:latin typeface="Aparajita" panose="02020603050405020304" pitchFamily="18" charset="0"/>
                <a:cs typeface="Aparajita" panose="02020603050405020304" pitchFamily="18" charset="0"/>
              </a:rPr>
              <a:t>          2.PyTorch (</a:t>
            </a:r>
            <a:r>
              <a:rPr lang="en-IN" sz="4000" dirty="0" err="1">
                <a:latin typeface="Aparajita" panose="02020603050405020304" pitchFamily="18" charset="0"/>
                <a:cs typeface="Aparajita" panose="02020603050405020304" pitchFamily="18" charset="0"/>
              </a:rPr>
              <a:t>Ultralytics</a:t>
            </a:r>
            <a:r>
              <a:rPr lang="en-IN" sz="4000" dirty="0">
                <a:latin typeface="Aparajita" panose="02020603050405020304" pitchFamily="18" charset="0"/>
                <a:cs typeface="Aparajita" panose="02020603050405020304" pitchFamily="18" charset="0"/>
              </a:rPr>
              <a:t> YOLO)</a:t>
            </a:r>
          </a:p>
          <a:p>
            <a:r>
              <a:rPr lang="en-IN" sz="4000" dirty="0">
                <a:latin typeface="Aparajita" panose="02020603050405020304" pitchFamily="18" charset="0"/>
                <a:cs typeface="Aparajita" panose="02020603050405020304" pitchFamily="18" charset="0"/>
              </a:rPr>
              <a:t>     </a:t>
            </a:r>
          </a:p>
          <a:p>
            <a:endParaRPr lang="en-IN" sz="4000" dirty="0">
              <a:latin typeface="Aparajita" panose="02020603050405020304" pitchFamily="18" charset="0"/>
              <a:cs typeface="Aparajita" panose="02020603050405020304" pitchFamily="18" charset="0"/>
            </a:endParaRPr>
          </a:p>
          <a:p>
            <a:pPr marL="453390" marR="5080" algn="l">
              <a:lnSpc>
                <a:spcPct val="100000"/>
              </a:lnSpc>
              <a:spcBef>
                <a:spcPts val="100"/>
              </a:spcBef>
            </a:pPr>
            <a:endParaRPr lang="en-IN" sz="4000" spc="-25" dirty="0">
              <a:latin typeface="Aparajita" panose="02020603050405020304" pitchFamily="18" charset="0"/>
              <a:cs typeface="Aparajita" panose="02020603050405020304" pitchFamily="18" charset="0"/>
            </a:endParaRPr>
          </a:p>
          <a:p>
            <a:pPr marL="1024890" marR="5080" indent="-571500" algn="l">
              <a:lnSpc>
                <a:spcPct val="100000"/>
              </a:lnSpc>
              <a:spcBef>
                <a:spcPts val="100"/>
              </a:spcBef>
              <a:buFont typeface="Arial" panose="020B0604020202020204" pitchFamily="34" charset="0"/>
              <a:buChar char="•"/>
            </a:pPr>
            <a:endParaRPr lang="en-IN" sz="4000" spc="-25" dirty="0">
              <a:latin typeface="Aparajita" panose="02020603050405020304" pitchFamily="18" charset="0"/>
              <a:cs typeface="Aparajita" panose="02020603050405020304" pitchFamily="18" charset="0"/>
            </a:endParaRPr>
          </a:p>
          <a:p>
            <a:pPr marL="1024890" marR="5080" indent="-571500" algn="l">
              <a:lnSpc>
                <a:spcPct val="100000"/>
              </a:lnSpc>
              <a:spcBef>
                <a:spcPts val="100"/>
              </a:spcBef>
              <a:buFont typeface="Arial" panose="020B0604020202020204" pitchFamily="34" charset="0"/>
              <a:buChar char="•"/>
            </a:pPr>
            <a:endParaRPr lang="en-IN" sz="4000" spc="-25" dirty="0">
              <a:latin typeface="Aparajita" panose="02020603050405020304" pitchFamily="18" charset="0"/>
              <a:cs typeface="Aparajita" panose="02020603050405020304" pitchFamily="18" charset="0"/>
            </a:endParaRPr>
          </a:p>
          <a:p>
            <a:pPr marL="453390" marR="5080" algn="ctr">
              <a:lnSpc>
                <a:spcPct val="100000"/>
              </a:lnSpc>
              <a:spcBef>
                <a:spcPts val="100"/>
              </a:spcBef>
            </a:pPr>
            <a:endParaRPr sz="4000" spc="-25" dirty="0">
              <a:latin typeface="Aparajita" panose="02020603050405020304" pitchFamily="18" charset="0"/>
              <a:cs typeface="Aparajita" panose="02020603050405020304" pitchFamily="18" charset="0"/>
            </a:endParaRPr>
          </a:p>
        </p:txBody>
      </p:sp>
      <p:pic>
        <p:nvPicPr>
          <p:cNvPr id="18" name="Picture 17">
            <a:extLst>
              <a:ext uri="{FF2B5EF4-FFF2-40B4-BE49-F238E27FC236}">
                <a16:creationId xmlns:a16="http://schemas.microsoft.com/office/drawing/2014/main" id="{03C56B56-EC64-05F0-18B7-61F8EDE357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2971800" cy="2971800"/>
          </a:xfrm>
          <a:prstGeom prst="rect">
            <a:avLst/>
          </a:prstGeom>
        </p:spPr>
      </p:pic>
      <p:sp>
        <p:nvSpPr>
          <p:cNvPr id="19" name="Rectangle 18">
            <a:extLst>
              <a:ext uri="{FF2B5EF4-FFF2-40B4-BE49-F238E27FC236}">
                <a16:creationId xmlns:a16="http://schemas.microsoft.com/office/drawing/2014/main" id="{07358388-4E7D-C536-B04A-753939B85DF1}"/>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6</a:t>
            </a:r>
          </a:p>
        </p:txBody>
      </p:sp>
      <p:pic>
        <p:nvPicPr>
          <p:cNvPr id="2054" name="Picture 6">
            <a:extLst>
              <a:ext uri="{FF2B5EF4-FFF2-40B4-BE49-F238E27FC236}">
                <a16:creationId xmlns:a16="http://schemas.microsoft.com/office/drawing/2014/main" id="{9D105ADA-3F2A-3948-D68D-7001A73C91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258800" y="4331528"/>
            <a:ext cx="4038600" cy="1195804"/>
          </a:xfrm>
          <a:prstGeom prst="rect">
            <a:avLst/>
          </a:prstGeom>
          <a:noFill/>
          <a:extLst>
            <a:ext uri="{909E8E84-426E-40DD-AFC4-6F175D3DCCD1}">
              <a14:hiddenFill xmlns:a14="http://schemas.microsoft.com/office/drawing/2010/main">
                <a:solidFill>
                  <a:srgbClr val="FFFFFF"/>
                </a:solidFill>
              </a14:hiddenFill>
            </a:ext>
          </a:extLst>
        </p:spPr>
      </p:pic>
      <p:pic>
        <p:nvPicPr>
          <p:cNvPr id="7" name="Graphic 6">
            <a:extLst>
              <a:ext uri="{FF2B5EF4-FFF2-40B4-BE49-F238E27FC236}">
                <a16:creationId xmlns:a16="http://schemas.microsoft.com/office/drawing/2014/main" id="{A32879C5-AA70-6390-84BF-CFA9FC74B69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96200" y="7353300"/>
            <a:ext cx="1799036" cy="1859507"/>
          </a:xfrm>
          <a:prstGeom prst="rect">
            <a:avLst/>
          </a:prstGeom>
        </p:spPr>
      </p:pic>
      <p:pic>
        <p:nvPicPr>
          <p:cNvPr id="9" name="Picture 8">
            <a:extLst>
              <a:ext uri="{FF2B5EF4-FFF2-40B4-BE49-F238E27FC236}">
                <a16:creationId xmlns:a16="http://schemas.microsoft.com/office/drawing/2014/main" id="{F584CE0A-19E7-3100-2C1B-CD53E04ADEC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5236" y="7277100"/>
            <a:ext cx="3290196" cy="2103926"/>
          </a:xfrm>
          <a:prstGeom prst="rect">
            <a:avLst/>
          </a:prstGeom>
        </p:spPr>
      </p:pic>
      <p:pic>
        <p:nvPicPr>
          <p:cNvPr id="11" name="Picture 10">
            <a:extLst>
              <a:ext uri="{FF2B5EF4-FFF2-40B4-BE49-F238E27FC236}">
                <a16:creationId xmlns:a16="http://schemas.microsoft.com/office/drawing/2014/main" id="{2DB64814-97EB-5FA8-FCA8-C3047904FBD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857677" y="7626696"/>
            <a:ext cx="1493810" cy="1493810"/>
          </a:xfrm>
          <a:prstGeom prst="rect">
            <a:avLst/>
          </a:prstGeom>
        </p:spPr>
      </p:pic>
      <p:pic>
        <p:nvPicPr>
          <p:cNvPr id="13" name="Picture 12">
            <a:extLst>
              <a:ext uri="{FF2B5EF4-FFF2-40B4-BE49-F238E27FC236}">
                <a16:creationId xmlns:a16="http://schemas.microsoft.com/office/drawing/2014/main" id="{A0952E34-843B-8819-FC6C-2E3A21E2BB7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853089" y="8115300"/>
            <a:ext cx="2930086" cy="723307"/>
          </a:xfrm>
          <a:prstGeom prst="rect">
            <a:avLst/>
          </a:prstGeom>
        </p:spPr>
      </p:pic>
      <p:pic>
        <p:nvPicPr>
          <p:cNvPr id="3" name="Picture 2">
            <a:extLst>
              <a:ext uri="{FF2B5EF4-FFF2-40B4-BE49-F238E27FC236}">
                <a16:creationId xmlns:a16="http://schemas.microsoft.com/office/drawing/2014/main" id="{A396A5B2-95BB-F931-EFBE-B9FCE1A8E9F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487400" y="-642938"/>
            <a:ext cx="6343650" cy="3571875"/>
          </a:xfrm>
          <a:prstGeom prst="rect">
            <a:avLst/>
          </a:prstGeom>
        </p:spPr>
      </p:pic>
    </p:spTree>
    <p:extLst>
      <p:ext uri="{BB962C8B-B14F-4D97-AF65-F5344CB8AC3E}">
        <p14:creationId xmlns:p14="http://schemas.microsoft.com/office/powerpoint/2010/main" val="3603056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34000-7639-84D5-5C8A-5E545028D29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C532799-0137-657C-AB1A-DE390C80330B}"/>
              </a:ext>
            </a:extLst>
          </p:cNvPr>
          <p:cNvSpPr txBox="1">
            <a:spLocks noGrp="1"/>
          </p:cNvSpPr>
          <p:nvPr>
            <p:ph type="title"/>
          </p:nvPr>
        </p:nvSpPr>
        <p:spPr>
          <a:xfrm>
            <a:off x="6176963" y="571500"/>
            <a:ext cx="10896600" cy="3894600"/>
          </a:xfrm>
          <a:prstGeom prst="rect">
            <a:avLst/>
          </a:prstGeom>
        </p:spPr>
        <p:txBody>
          <a:bodyPr vert="horz" wrap="square" lIns="0" tIns="519375" rIns="0" bIns="0" rtlCol="0">
            <a:spAutoFit/>
          </a:bodyPr>
          <a:lstStyle/>
          <a:p>
            <a:pPr marL="48895">
              <a:lnSpc>
                <a:spcPct val="100000"/>
              </a:lnSpc>
              <a:spcBef>
                <a:spcPts val="100"/>
              </a:spcBef>
            </a:pPr>
            <a:r>
              <a:rPr lang="en-IN" sz="6000" dirty="0"/>
              <a:t>TECH STACK </a:t>
            </a:r>
            <a:br>
              <a:rPr lang="en-IN" sz="6000" dirty="0"/>
            </a:br>
            <a:br>
              <a:rPr lang="en-IN" sz="5500" dirty="0"/>
            </a:br>
            <a:br>
              <a:rPr lang="en-IN" dirty="0"/>
            </a:br>
            <a:endParaRPr spc="-20" dirty="0"/>
          </a:p>
        </p:txBody>
      </p:sp>
      <p:sp>
        <p:nvSpPr>
          <p:cNvPr id="14" name="object 14">
            <a:extLst>
              <a:ext uri="{FF2B5EF4-FFF2-40B4-BE49-F238E27FC236}">
                <a16:creationId xmlns:a16="http://schemas.microsoft.com/office/drawing/2014/main" id="{405F1A4C-0469-E6AF-776B-43475D7AE833}"/>
              </a:ext>
            </a:extLst>
          </p:cNvPr>
          <p:cNvSpPr txBox="1">
            <a:spLocks noGrp="1"/>
          </p:cNvSpPr>
          <p:nvPr>
            <p:ph type="body" idx="1"/>
          </p:nvPr>
        </p:nvSpPr>
        <p:spPr>
          <a:xfrm>
            <a:off x="609600" y="2628900"/>
            <a:ext cx="16687800" cy="9400009"/>
          </a:xfrm>
          <a:prstGeom prst="rect">
            <a:avLst/>
          </a:prstGeom>
        </p:spPr>
        <p:txBody>
          <a:bodyPr vert="horz" wrap="square" lIns="0" tIns="12700" rIns="0" bIns="0" rtlCol="0">
            <a:spAutoFit/>
          </a:bodyPr>
          <a:lstStyle/>
          <a:p>
            <a:pPr marL="1024890" marR="5080" indent="-571500" algn="just">
              <a:lnSpc>
                <a:spcPct val="100000"/>
              </a:lnSpc>
              <a:spcBef>
                <a:spcPts val="100"/>
              </a:spcBef>
              <a:buFont typeface="Arial" panose="020B0604020202020204" pitchFamily="34" charset="0"/>
              <a:buChar char="•"/>
            </a:pPr>
            <a:r>
              <a:rPr lang="en-IN" sz="4000" b="1" spc="-25" dirty="0">
                <a:latin typeface="Aparajita" panose="02020603050405020304" pitchFamily="18" charset="0"/>
                <a:cs typeface="Aparajita" panose="02020603050405020304" pitchFamily="18" charset="0"/>
              </a:rPr>
              <a:t>Web Application Framework: </a:t>
            </a:r>
            <a:r>
              <a:rPr lang="en-IN" sz="4000" spc="-25" dirty="0" err="1">
                <a:latin typeface="Aparajita" panose="02020603050405020304" pitchFamily="18" charset="0"/>
                <a:cs typeface="Aparajita" panose="02020603050405020304" pitchFamily="18" charset="0"/>
              </a:rPr>
              <a:t>Streamlit</a:t>
            </a:r>
            <a:r>
              <a:rPr lang="en-IN" sz="4000" spc="-25" dirty="0">
                <a:latin typeface="Aparajita" panose="02020603050405020304" pitchFamily="18" charset="0"/>
                <a:cs typeface="Aparajita" panose="02020603050405020304" pitchFamily="18" charset="0"/>
              </a:rPr>
              <a:t> (For Interactive AI Dashboard)</a:t>
            </a:r>
          </a:p>
          <a:p>
            <a:pPr marL="1024890" marR="5080" indent="-571500" algn="just">
              <a:lnSpc>
                <a:spcPct val="100000"/>
              </a:lnSpc>
              <a:spcBef>
                <a:spcPts val="100"/>
              </a:spcBef>
              <a:buFont typeface="Arial" panose="020B0604020202020204" pitchFamily="34" charset="0"/>
              <a:buChar char="•"/>
            </a:pPr>
            <a:r>
              <a:rPr lang="en-IN" sz="4000" b="1" spc="-25" dirty="0">
                <a:latin typeface="Aparajita" panose="02020603050405020304" pitchFamily="18" charset="0"/>
                <a:cs typeface="Aparajita" panose="02020603050405020304" pitchFamily="18" charset="0"/>
              </a:rPr>
              <a:t>Frontend styling &amp; UI:</a:t>
            </a:r>
            <a:r>
              <a:rPr lang="en-IN" sz="4000" spc="-25" dirty="0">
                <a:latin typeface="Aparajita" panose="02020603050405020304" pitchFamily="18" charset="0"/>
                <a:cs typeface="Aparajita" panose="02020603050405020304" pitchFamily="18" charset="0"/>
              </a:rPr>
              <a:t>(CSS) Custom CSS Used to create a Professional &amp; User Friendly Dashboard (Embedded in </a:t>
            </a:r>
            <a:r>
              <a:rPr lang="en-IN" sz="4000" spc="-25" dirty="0" err="1">
                <a:latin typeface="Aparajita" panose="02020603050405020304" pitchFamily="18" charset="0"/>
                <a:cs typeface="Aparajita" panose="02020603050405020304" pitchFamily="18" charset="0"/>
              </a:rPr>
              <a:t>Streamlit</a:t>
            </a:r>
            <a:r>
              <a:rPr lang="en-IN" sz="4000" spc="-25" dirty="0">
                <a:latin typeface="Aparajita" panose="02020603050405020304" pitchFamily="18" charset="0"/>
                <a:cs typeface="Aparajita" panose="02020603050405020304" pitchFamily="18" charset="0"/>
              </a:rPr>
              <a:t>).</a:t>
            </a:r>
          </a:p>
          <a:p>
            <a:pPr marL="1024890" marR="5080" indent="-571500" algn="just">
              <a:lnSpc>
                <a:spcPct val="100000"/>
              </a:lnSpc>
              <a:spcBef>
                <a:spcPts val="100"/>
              </a:spcBef>
              <a:buFont typeface="Arial" panose="020B0604020202020204" pitchFamily="34" charset="0"/>
              <a:buChar char="•"/>
            </a:pPr>
            <a:r>
              <a:rPr lang="en-IN" sz="4000" b="1" spc="-25" dirty="0">
                <a:latin typeface="Aparajita" panose="02020603050405020304" pitchFamily="18" charset="0"/>
                <a:cs typeface="Aparajita" panose="02020603050405020304" pitchFamily="18" charset="0"/>
              </a:rPr>
              <a:t>Model Format:</a:t>
            </a:r>
          </a:p>
          <a:p>
            <a:pPr marL="453390" marR="5080" algn="just">
              <a:lnSpc>
                <a:spcPct val="100000"/>
              </a:lnSpc>
              <a:spcBef>
                <a:spcPts val="100"/>
              </a:spcBef>
            </a:pPr>
            <a:r>
              <a:rPr lang="en-IN" sz="4000" spc="-25" dirty="0">
                <a:latin typeface="Aparajita" panose="02020603050405020304" pitchFamily="18" charset="0"/>
                <a:cs typeface="Aparajita" panose="02020603050405020304" pitchFamily="18" charset="0"/>
              </a:rPr>
              <a:t>       1.Tenserflow </a:t>
            </a:r>
            <a:r>
              <a:rPr lang="en-IN" sz="4000" spc="-25" dirty="0" err="1">
                <a:latin typeface="Aparajita" panose="02020603050405020304" pitchFamily="18" charset="0"/>
                <a:cs typeface="Aparajita" panose="02020603050405020304" pitchFamily="18" charset="0"/>
              </a:rPr>
              <a:t>SaveModel</a:t>
            </a:r>
            <a:r>
              <a:rPr lang="en-IN" sz="4000" spc="-25" dirty="0">
                <a:latin typeface="Aparajita" panose="02020603050405020304" pitchFamily="18" charset="0"/>
                <a:cs typeface="Aparajita" panose="02020603050405020304" pitchFamily="18" charset="0"/>
              </a:rPr>
              <a:t>/</a:t>
            </a:r>
            <a:r>
              <a:rPr lang="en-IN" sz="4000" spc="-25" dirty="0" err="1">
                <a:latin typeface="Aparajita" panose="02020603050405020304" pitchFamily="18" charset="0"/>
                <a:cs typeface="Aparajita" panose="02020603050405020304" pitchFamily="18" charset="0"/>
              </a:rPr>
              <a:t>Keras</a:t>
            </a:r>
            <a:r>
              <a:rPr lang="en-IN" sz="4000" spc="-25" dirty="0">
                <a:latin typeface="Aparajita" panose="02020603050405020304" pitchFamily="18" charset="0"/>
                <a:cs typeface="Aparajita" panose="02020603050405020304" pitchFamily="18" charset="0"/>
              </a:rPr>
              <a:t> Used for Vegetation model.</a:t>
            </a:r>
          </a:p>
          <a:p>
            <a:pPr marL="453390" marR="5080" algn="just">
              <a:lnSpc>
                <a:spcPct val="100000"/>
              </a:lnSpc>
              <a:spcBef>
                <a:spcPts val="100"/>
              </a:spcBef>
            </a:pPr>
            <a:r>
              <a:rPr lang="en-IN" sz="4000" spc="-25" dirty="0">
                <a:latin typeface="Aparajita" panose="02020603050405020304" pitchFamily="18" charset="0"/>
                <a:cs typeface="Aparajita" panose="02020603050405020304" pitchFamily="18" charset="0"/>
              </a:rPr>
              <a:t>       2.YOLO.pt format Used For Soil Detection model.    </a:t>
            </a:r>
          </a:p>
          <a:p>
            <a:pPr marL="1024890" marR="5080" indent="-571500" algn="just">
              <a:lnSpc>
                <a:spcPct val="100000"/>
              </a:lnSpc>
              <a:spcBef>
                <a:spcPts val="100"/>
              </a:spcBef>
              <a:buFont typeface="Arial" panose="020B0604020202020204" pitchFamily="34" charset="0"/>
              <a:buChar char="•"/>
            </a:pPr>
            <a:r>
              <a:rPr lang="en-IN" sz="4000" b="1" spc="-25" dirty="0">
                <a:latin typeface="Aparajita" panose="02020603050405020304" pitchFamily="18" charset="0"/>
                <a:cs typeface="Aparajita" panose="02020603050405020304" pitchFamily="18" charset="0"/>
              </a:rPr>
              <a:t>Deployment &amp; Version Control:</a:t>
            </a:r>
          </a:p>
          <a:p>
            <a:pPr marL="453390" marR="5080" algn="just">
              <a:lnSpc>
                <a:spcPct val="100000"/>
              </a:lnSpc>
              <a:spcBef>
                <a:spcPts val="100"/>
              </a:spcBef>
            </a:pPr>
            <a:r>
              <a:rPr lang="en-IN" sz="4000" b="1" spc="-25" dirty="0">
                <a:latin typeface="Aparajita" panose="02020603050405020304" pitchFamily="18" charset="0"/>
                <a:cs typeface="Aparajita" panose="02020603050405020304" pitchFamily="18" charset="0"/>
              </a:rPr>
              <a:t>      </a:t>
            </a:r>
            <a:r>
              <a:rPr lang="en-IN" sz="4000" spc="-25" dirty="0">
                <a:latin typeface="Aparajita" panose="02020603050405020304" pitchFamily="18" charset="0"/>
                <a:cs typeface="Aparajita" panose="02020603050405020304" pitchFamily="18" charset="0"/>
              </a:rPr>
              <a:t> 1.Git &amp; </a:t>
            </a:r>
            <a:r>
              <a:rPr lang="en-IN" sz="4000" spc="-25" dirty="0" err="1">
                <a:latin typeface="Aparajita" panose="02020603050405020304" pitchFamily="18" charset="0"/>
                <a:cs typeface="Aparajita" panose="02020603050405020304" pitchFamily="18" charset="0"/>
              </a:rPr>
              <a:t>github</a:t>
            </a:r>
            <a:r>
              <a:rPr lang="en-IN" sz="4000" spc="-25" dirty="0">
                <a:latin typeface="Aparajita" panose="02020603050405020304" pitchFamily="18" charset="0"/>
                <a:cs typeface="Aparajita" panose="02020603050405020304" pitchFamily="18" charset="0"/>
              </a:rPr>
              <a:t> Used for version control and Project Collaboration</a:t>
            </a:r>
          </a:p>
          <a:p>
            <a:pPr marL="453390" marR="5080" algn="just">
              <a:lnSpc>
                <a:spcPct val="100000"/>
              </a:lnSpc>
              <a:spcBef>
                <a:spcPts val="100"/>
              </a:spcBef>
            </a:pPr>
            <a:r>
              <a:rPr lang="en-IN" sz="4000" spc="-25" dirty="0">
                <a:latin typeface="Aparajita" panose="02020603050405020304" pitchFamily="18" charset="0"/>
                <a:cs typeface="Aparajita" panose="02020603050405020304" pitchFamily="18" charset="0"/>
              </a:rPr>
              <a:t>       2.Streamlit Cloud/ Render used to host web Application &amp; make it accessible Online.</a:t>
            </a:r>
            <a:endParaRPr lang="en-US" sz="4000" dirty="0">
              <a:latin typeface="Aparajita" panose="02020603050405020304" pitchFamily="18" charset="0"/>
              <a:cs typeface="Aparajita" panose="02020603050405020304" pitchFamily="18" charset="0"/>
            </a:endParaRPr>
          </a:p>
          <a:p>
            <a:pPr marL="1024890" marR="5080" indent="-571500" algn="l">
              <a:lnSpc>
                <a:spcPct val="100000"/>
              </a:lnSpc>
              <a:spcBef>
                <a:spcPts val="100"/>
              </a:spcBef>
              <a:buFont typeface="Arial" panose="020B0604020202020204" pitchFamily="34" charset="0"/>
              <a:buChar char="•"/>
            </a:pPr>
            <a:r>
              <a:rPr lang="en-IN" sz="4000" b="1" dirty="0">
                <a:latin typeface="Aparajita" panose="02020603050405020304" pitchFamily="18" charset="0"/>
                <a:cs typeface="Aparajita" panose="02020603050405020304" pitchFamily="18" charset="0"/>
              </a:rPr>
              <a:t>Development Environment: </a:t>
            </a:r>
            <a:r>
              <a:rPr lang="en-IN" sz="4000" dirty="0" err="1">
                <a:latin typeface="Aparajita" panose="02020603050405020304" pitchFamily="18" charset="0"/>
                <a:cs typeface="Aparajita" panose="02020603050405020304" pitchFamily="18" charset="0"/>
              </a:rPr>
              <a:t>Vscode</a:t>
            </a:r>
            <a:r>
              <a:rPr lang="en-IN" sz="4000" dirty="0">
                <a:latin typeface="Aparajita" panose="02020603050405020304" pitchFamily="18" charset="0"/>
                <a:cs typeface="Aparajita" panose="02020603050405020304" pitchFamily="18" charset="0"/>
              </a:rPr>
              <a:t> and Google </a:t>
            </a:r>
            <a:r>
              <a:rPr lang="en-IN" sz="4000" dirty="0" err="1">
                <a:latin typeface="Aparajita" panose="02020603050405020304" pitchFamily="18" charset="0"/>
                <a:cs typeface="Aparajita" panose="02020603050405020304" pitchFamily="18" charset="0"/>
              </a:rPr>
              <a:t>Colab</a:t>
            </a:r>
            <a:r>
              <a:rPr lang="en-IN" sz="4000" dirty="0">
                <a:latin typeface="Aparajita" panose="02020603050405020304" pitchFamily="18" charset="0"/>
                <a:cs typeface="Aparajita" panose="02020603050405020304" pitchFamily="18" charset="0"/>
              </a:rPr>
              <a:t>.</a:t>
            </a:r>
          </a:p>
          <a:p>
            <a:r>
              <a:rPr lang="en-IN" sz="4000" dirty="0">
                <a:latin typeface="Aparajita" panose="02020603050405020304" pitchFamily="18" charset="0"/>
                <a:cs typeface="Aparajita" panose="02020603050405020304" pitchFamily="18" charset="0"/>
              </a:rPr>
              <a:t>          </a:t>
            </a:r>
          </a:p>
          <a:p>
            <a:pPr marL="453390" marR="5080" algn="l">
              <a:lnSpc>
                <a:spcPct val="100000"/>
              </a:lnSpc>
              <a:spcBef>
                <a:spcPts val="100"/>
              </a:spcBef>
            </a:pPr>
            <a:endParaRPr lang="en-IN" sz="4000" spc="-25" dirty="0">
              <a:latin typeface="Aparajita" panose="02020603050405020304" pitchFamily="18" charset="0"/>
              <a:cs typeface="Aparajita" panose="02020603050405020304" pitchFamily="18" charset="0"/>
            </a:endParaRPr>
          </a:p>
          <a:p>
            <a:pPr marL="1024890" marR="5080" indent="-571500" algn="l">
              <a:lnSpc>
                <a:spcPct val="100000"/>
              </a:lnSpc>
              <a:spcBef>
                <a:spcPts val="100"/>
              </a:spcBef>
              <a:buFont typeface="Arial" panose="020B0604020202020204" pitchFamily="34" charset="0"/>
              <a:buChar char="•"/>
            </a:pPr>
            <a:endParaRPr lang="en-IN" sz="4000" spc="-25" dirty="0">
              <a:latin typeface="Aparajita" panose="02020603050405020304" pitchFamily="18" charset="0"/>
              <a:cs typeface="Aparajita" panose="02020603050405020304" pitchFamily="18" charset="0"/>
            </a:endParaRPr>
          </a:p>
          <a:p>
            <a:pPr marL="1024890" marR="5080" indent="-571500" algn="l">
              <a:lnSpc>
                <a:spcPct val="100000"/>
              </a:lnSpc>
              <a:spcBef>
                <a:spcPts val="100"/>
              </a:spcBef>
              <a:buFont typeface="Arial" panose="020B0604020202020204" pitchFamily="34" charset="0"/>
              <a:buChar char="•"/>
            </a:pPr>
            <a:endParaRPr lang="en-IN" sz="4000" spc="-25" dirty="0">
              <a:latin typeface="Aparajita" panose="02020603050405020304" pitchFamily="18" charset="0"/>
              <a:cs typeface="Aparajita" panose="02020603050405020304" pitchFamily="18" charset="0"/>
            </a:endParaRPr>
          </a:p>
          <a:p>
            <a:pPr marL="453390" marR="5080" algn="ctr">
              <a:lnSpc>
                <a:spcPct val="100000"/>
              </a:lnSpc>
              <a:spcBef>
                <a:spcPts val="100"/>
              </a:spcBef>
            </a:pPr>
            <a:endParaRPr sz="4000" spc="-25" dirty="0">
              <a:latin typeface="Aparajita" panose="02020603050405020304" pitchFamily="18" charset="0"/>
              <a:cs typeface="Aparajita" panose="02020603050405020304" pitchFamily="18" charset="0"/>
            </a:endParaRPr>
          </a:p>
        </p:txBody>
      </p:sp>
      <p:pic>
        <p:nvPicPr>
          <p:cNvPr id="18" name="Picture 17">
            <a:extLst>
              <a:ext uri="{FF2B5EF4-FFF2-40B4-BE49-F238E27FC236}">
                <a16:creationId xmlns:a16="http://schemas.microsoft.com/office/drawing/2014/main" id="{9D71C1A5-7069-B93F-6D4A-F946C0C5BC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2590800" cy="2590800"/>
          </a:xfrm>
          <a:prstGeom prst="rect">
            <a:avLst/>
          </a:prstGeom>
        </p:spPr>
      </p:pic>
      <p:sp>
        <p:nvSpPr>
          <p:cNvPr id="19" name="Rectangle 18">
            <a:extLst>
              <a:ext uri="{FF2B5EF4-FFF2-40B4-BE49-F238E27FC236}">
                <a16:creationId xmlns:a16="http://schemas.microsoft.com/office/drawing/2014/main" id="{AA2B61F5-74EF-F764-DFF7-17123D76D128}"/>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7</a:t>
            </a:r>
          </a:p>
        </p:txBody>
      </p:sp>
      <p:pic>
        <p:nvPicPr>
          <p:cNvPr id="11" name="Picture 10">
            <a:extLst>
              <a:ext uri="{FF2B5EF4-FFF2-40B4-BE49-F238E27FC236}">
                <a16:creationId xmlns:a16="http://schemas.microsoft.com/office/drawing/2014/main" id="{7B6ACBF5-E3DA-63FF-1CC1-541F9312E5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96800" y="8271972"/>
            <a:ext cx="4343400" cy="1205922"/>
          </a:xfrm>
          <a:prstGeom prst="rect">
            <a:avLst/>
          </a:prstGeom>
        </p:spPr>
      </p:pic>
      <p:pic>
        <p:nvPicPr>
          <p:cNvPr id="3" name="Picture 2">
            <a:extLst>
              <a:ext uri="{FF2B5EF4-FFF2-40B4-BE49-F238E27FC236}">
                <a16:creationId xmlns:a16="http://schemas.microsoft.com/office/drawing/2014/main" id="{59E3F2E1-E2E5-DAFD-1E4D-5549D589AF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87400" y="-642938"/>
            <a:ext cx="6343650" cy="3571875"/>
          </a:xfrm>
          <a:prstGeom prst="rect">
            <a:avLst/>
          </a:prstGeom>
        </p:spPr>
      </p:pic>
    </p:spTree>
    <p:extLst>
      <p:ext uri="{BB962C8B-B14F-4D97-AF65-F5344CB8AC3E}">
        <p14:creationId xmlns:p14="http://schemas.microsoft.com/office/powerpoint/2010/main" val="3150033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B17C6-9B35-90A3-7A6C-88FB104FFED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E2B7BF0-815D-0EDD-E344-D677E3EB6053}"/>
              </a:ext>
            </a:extLst>
          </p:cNvPr>
          <p:cNvSpPr txBox="1">
            <a:spLocks noGrp="1"/>
          </p:cNvSpPr>
          <p:nvPr>
            <p:ph type="title"/>
          </p:nvPr>
        </p:nvSpPr>
        <p:spPr>
          <a:xfrm>
            <a:off x="2133600" y="143088"/>
            <a:ext cx="7429501" cy="3586824"/>
          </a:xfrm>
          <a:prstGeom prst="rect">
            <a:avLst/>
          </a:prstGeom>
        </p:spPr>
        <p:txBody>
          <a:bodyPr vert="horz" wrap="square" lIns="0" tIns="519375" rIns="0" bIns="0" rtlCol="0">
            <a:spAutoFit/>
          </a:bodyPr>
          <a:lstStyle/>
          <a:p>
            <a:pPr marL="48895">
              <a:lnSpc>
                <a:spcPct val="100000"/>
              </a:lnSpc>
              <a:spcBef>
                <a:spcPts val="100"/>
              </a:spcBef>
            </a:pPr>
            <a:r>
              <a:rPr lang="en-IN" sz="3800" dirty="0"/>
              <a:t>USER INTERFACE PREVIEW</a:t>
            </a:r>
            <a:br>
              <a:rPr lang="en-IN" sz="6000" dirty="0"/>
            </a:br>
            <a:br>
              <a:rPr lang="en-IN" sz="5500" dirty="0"/>
            </a:br>
            <a:br>
              <a:rPr lang="en-IN" dirty="0"/>
            </a:br>
            <a:endParaRPr spc="-20" dirty="0"/>
          </a:p>
        </p:txBody>
      </p:sp>
      <p:sp>
        <p:nvSpPr>
          <p:cNvPr id="14" name="object 14">
            <a:extLst>
              <a:ext uri="{FF2B5EF4-FFF2-40B4-BE49-F238E27FC236}">
                <a16:creationId xmlns:a16="http://schemas.microsoft.com/office/drawing/2014/main" id="{63CF44BA-8C22-456D-B0B4-03CA50866ECA}"/>
              </a:ext>
            </a:extLst>
          </p:cNvPr>
          <p:cNvSpPr txBox="1">
            <a:spLocks noGrp="1"/>
          </p:cNvSpPr>
          <p:nvPr>
            <p:ph type="body" idx="1"/>
          </p:nvPr>
        </p:nvSpPr>
        <p:spPr>
          <a:xfrm>
            <a:off x="609600" y="2628900"/>
            <a:ext cx="16687800" cy="1256754"/>
          </a:xfrm>
          <a:prstGeom prst="rect">
            <a:avLst/>
          </a:prstGeom>
        </p:spPr>
        <p:txBody>
          <a:bodyPr vert="horz" wrap="square" lIns="0" tIns="12700" rIns="0" bIns="0" rtlCol="0">
            <a:spAutoFit/>
          </a:bodyPr>
          <a:lstStyle/>
          <a:p>
            <a:pPr marL="453390" marR="5080" algn="l">
              <a:lnSpc>
                <a:spcPct val="100000"/>
              </a:lnSpc>
              <a:spcBef>
                <a:spcPts val="100"/>
              </a:spcBef>
            </a:pPr>
            <a:endParaRPr lang="en-IN" sz="4000" spc="-25" dirty="0">
              <a:latin typeface="Aparajita" panose="02020603050405020304" pitchFamily="18" charset="0"/>
              <a:cs typeface="Aparajita" panose="02020603050405020304" pitchFamily="18" charset="0"/>
            </a:endParaRPr>
          </a:p>
          <a:p>
            <a:pPr marL="453390" marR="5080" algn="ctr">
              <a:lnSpc>
                <a:spcPct val="100000"/>
              </a:lnSpc>
              <a:spcBef>
                <a:spcPts val="100"/>
              </a:spcBef>
            </a:pPr>
            <a:endParaRPr sz="4000" spc="-25" dirty="0">
              <a:latin typeface="Aparajita" panose="02020603050405020304" pitchFamily="18" charset="0"/>
              <a:cs typeface="Aparajita" panose="02020603050405020304" pitchFamily="18" charset="0"/>
            </a:endParaRPr>
          </a:p>
        </p:txBody>
      </p:sp>
      <p:pic>
        <p:nvPicPr>
          <p:cNvPr id="18" name="Picture 17">
            <a:extLst>
              <a:ext uri="{FF2B5EF4-FFF2-40B4-BE49-F238E27FC236}">
                <a16:creationId xmlns:a16="http://schemas.microsoft.com/office/drawing/2014/main" id="{8A6021DF-3D8A-7374-C03D-922E1BD597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2362200" cy="2362200"/>
          </a:xfrm>
          <a:prstGeom prst="rect">
            <a:avLst/>
          </a:prstGeom>
        </p:spPr>
      </p:pic>
      <p:sp>
        <p:nvSpPr>
          <p:cNvPr id="19" name="Rectangle 18">
            <a:extLst>
              <a:ext uri="{FF2B5EF4-FFF2-40B4-BE49-F238E27FC236}">
                <a16:creationId xmlns:a16="http://schemas.microsoft.com/office/drawing/2014/main" id="{A91636D8-1015-E250-A4A5-A926D27EA07C}"/>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8</a:t>
            </a:r>
          </a:p>
        </p:txBody>
      </p:sp>
      <p:pic>
        <p:nvPicPr>
          <p:cNvPr id="6" name="Picture 5">
            <a:extLst>
              <a:ext uri="{FF2B5EF4-FFF2-40B4-BE49-F238E27FC236}">
                <a16:creationId xmlns:a16="http://schemas.microsoft.com/office/drawing/2014/main" id="{50CBEBB8-F994-09DC-9A27-3628773AB7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099" y="1571131"/>
            <a:ext cx="8343901" cy="3895344"/>
          </a:xfrm>
          <a:prstGeom prst="rect">
            <a:avLst/>
          </a:prstGeom>
        </p:spPr>
        <p:style>
          <a:lnRef idx="2">
            <a:schemeClr val="accent1"/>
          </a:lnRef>
          <a:fillRef idx="1">
            <a:schemeClr val="lt1"/>
          </a:fillRef>
          <a:effectRef idx="0">
            <a:schemeClr val="accent1"/>
          </a:effectRef>
          <a:fontRef idx="minor">
            <a:schemeClr val="dk1"/>
          </a:fontRef>
        </p:style>
      </p:pic>
      <p:pic>
        <p:nvPicPr>
          <p:cNvPr id="8" name="Picture 7">
            <a:extLst>
              <a:ext uri="{FF2B5EF4-FFF2-40B4-BE49-F238E27FC236}">
                <a16:creationId xmlns:a16="http://schemas.microsoft.com/office/drawing/2014/main" id="{C8621A59-B03D-6D23-3B65-55167A043E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099" y="5632076"/>
            <a:ext cx="8358189" cy="4076591"/>
          </a:xfrm>
          <a:prstGeom prst="rect">
            <a:avLst/>
          </a:prstGeom>
        </p:spPr>
        <p:style>
          <a:lnRef idx="2">
            <a:schemeClr val="accent1"/>
          </a:lnRef>
          <a:fillRef idx="1">
            <a:schemeClr val="lt1"/>
          </a:fillRef>
          <a:effectRef idx="0">
            <a:schemeClr val="accent1"/>
          </a:effectRef>
          <a:fontRef idx="minor">
            <a:schemeClr val="dk1"/>
          </a:fontRef>
        </p:style>
      </p:pic>
      <p:pic>
        <p:nvPicPr>
          <p:cNvPr id="10" name="Picture 9">
            <a:extLst>
              <a:ext uri="{FF2B5EF4-FFF2-40B4-BE49-F238E27FC236}">
                <a16:creationId xmlns:a16="http://schemas.microsoft.com/office/drawing/2014/main" id="{8A67D3C7-8FE8-5028-4F1C-D227254B43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01176" y="114513"/>
            <a:ext cx="6858000" cy="9674011"/>
          </a:xfrm>
          <a:prstGeom prst="rect">
            <a:avLst/>
          </a:prstGeom>
        </p:spPr>
      </p:pic>
      <p:pic>
        <p:nvPicPr>
          <p:cNvPr id="4" name="Picture 3">
            <a:extLst>
              <a:ext uri="{FF2B5EF4-FFF2-40B4-BE49-F238E27FC236}">
                <a16:creationId xmlns:a16="http://schemas.microsoft.com/office/drawing/2014/main" id="{D3022133-B6AB-27C9-6A9A-0C9799933B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25600" y="-353123"/>
            <a:ext cx="5540122" cy="3119438"/>
          </a:xfrm>
          <a:prstGeom prst="rect">
            <a:avLst/>
          </a:prstGeom>
        </p:spPr>
      </p:pic>
    </p:spTree>
    <p:extLst>
      <p:ext uri="{BB962C8B-B14F-4D97-AF65-F5344CB8AC3E}">
        <p14:creationId xmlns:p14="http://schemas.microsoft.com/office/powerpoint/2010/main" val="2419867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3DBE2-D542-3FD7-9771-11E7742BC2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CC1F156-6959-F67E-45BB-8E3483A47DC6}"/>
              </a:ext>
            </a:extLst>
          </p:cNvPr>
          <p:cNvSpPr txBox="1">
            <a:spLocks noGrp="1"/>
          </p:cNvSpPr>
          <p:nvPr>
            <p:ph type="title"/>
          </p:nvPr>
        </p:nvSpPr>
        <p:spPr>
          <a:xfrm>
            <a:off x="7353300" y="182100"/>
            <a:ext cx="10896600" cy="3894600"/>
          </a:xfrm>
          <a:prstGeom prst="rect">
            <a:avLst/>
          </a:prstGeom>
        </p:spPr>
        <p:txBody>
          <a:bodyPr vert="horz" wrap="square" lIns="0" tIns="519375" rIns="0" bIns="0" rtlCol="0">
            <a:spAutoFit/>
          </a:bodyPr>
          <a:lstStyle/>
          <a:p>
            <a:pPr marL="48895">
              <a:lnSpc>
                <a:spcPct val="100000"/>
              </a:lnSpc>
              <a:spcBef>
                <a:spcPts val="100"/>
              </a:spcBef>
            </a:pPr>
            <a:r>
              <a:rPr lang="en-IN" sz="6000" dirty="0"/>
              <a:t>RESULT </a:t>
            </a:r>
            <a:br>
              <a:rPr lang="en-IN" sz="6000" dirty="0"/>
            </a:br>
            <a:br>
              <a:rPr lang="en-IN" sz="5500" dirty="0"/>
            </a:br>
            <a:br>
              <a:rPr lang="en-IN" dirty="0"/>
            </a:br>
            <a:endParaRPr spc="-20" dirty="0"/>
          </a:p>
        </p:txBody>
      </p:sp>
      <p:sp>
        <p:nvSpPr>
          <p:cNvPr id="14" name="object 14">
            <a:extLst>
              <a:ext uri="{FF2B5EF4-FFF2-40B4-BE49-F238E27FC236}">
                <a16:creationId xmlns:a16="http://schemas.microsoft.com/office/drawing/2014/main" id="{C68930BF-197F-862E-508D-E017886BCF4D}"/>
              </a:ext>
            </a:extLst>
          </p:cNvPr>
          <p:cNvSpPr txBox="1">
            <a:spLocks noGrp="1"/>
          </p:cNvSpPr>
          <p:nvPr>
            <p:ph type="body" idx="1"/>
          </p:nvPr>
        </p:nvSpPr>
        <p:spPr>
          <a:xfrm>
            <a:off x="609600" y="2095500"/>
            <a:ext cx="17754600" cy="10528523"/>
          </a:xfrm>
          <a:prstGeom prst="rect">
            <a:avLst/>
          </a:prstGeom>
        </p:spPr>
        <p:txBody>
          <a:bodyPr vert="horz" wrap="square" lIns="0" tIns="12700" rIns="0" bIns="0" rtlCol="0">
            <a:spAutoFit/>
          </a:bodyPr>
          <a:lstStyle/>
          <a:p>
            <a:r>
              <a:rPr lang="en-IN" sz="4000" b="1" dirty="0">
                <a:latin typeface="Aparajita" panose="02020603050405020304" pitchFamily="18" charset="0"/>
                <a:cs typeface="Aparajita" panose="02020603050405020304" pitchFamily="18" charset="0"/>
              </a:rPr>
              <a:t>Vegetation Analysis (Semantic Segmentation – DeepLabV3+)</a:t>
            </a:r>
          </a:p>
          <a:p>
            <a:r>
              <a:rPr lang="en-IN" sz="4000" dirty="0">
                <a:latin typeface="Aparajita" panose="02020603050405020304" pitchFamily="18" charset="0"/>
                <a:cs typeface="Aparajita" panose="02020603050405020304" pitchFamily="18" charset="0"/>
              </a:rPr>
              <a:t>The vegetation analysis model accurately separates </a:t>
            </a:r>
            <a:r>
              <a:rPr lang="en-IN" sz="4000" b="1" dirty="0">
                <a:latin typeface="Aparajita" panose="02020603050405020304" pitchFamily="18" charset="0"/>
                <a:cs typeface="Aparajita" panose="02020603050405020304" pitchFamily="18" charset="0"/>
              </a:rPr>
              <a:t>vegetation</a:t>
            </a:r>
            <a:r>
              <a:rPr lang="en-IN" sz="4000" dirty="0">
                <a:latin typeface="Aparajita" panose="02020603050405020304" pitchFamily="18" charset="0"/>
                <a:cs typeface="Aparajita" panose="02020603050405020304" pitchFamily="18" charset="0"/>
              </a:rPr>
              <a:t> and </a:t>
            </a:r>
            <a:r>
              <a:rPr lang="en-IN" sz="4000" b="1" dirty="0">
                <a:latin typeface="Aparajita" panose="02020603050405020304" pitchFamily="18" charset="0"/>
                <a:cs typeface="Aparajita" panose="02020603050405020304" pitchFamily="18" charset="0"/>
              </a:rPr>
              <a:t>non-vegetation</a:t>
            </a:r>
            <a:r>
              <a:rPr lang="en-IN" sz="4000" dirty="0">
                <a:latin typeface="Aparajita" panose="02020603050405020304" pitchFamily="18" charset="0"/>
                <a:cs typeface="Aparajita" panose="02020603050405020304" pitchFamily="18" charset="0"/>
              </a:rPr>
              <a:t> regions from land &amp; satellite images.</a:t>
            </a:r>
          </a:p>
          <a:p>
            <a:r>
              <a:rPr lang="en-IN" sz="4000" dirty="0">
                <a:latin typeface="Aparajita" panose="02020603050405020304" pitchFamily="18" charset="0"/>
                <a:cs typeface="Aparajita" panose="02020603050405020304" pitchFamily="18" charset="0"/>
              </a:rPr>
              <a:t>The model performance was evaluated using standard segmentation metrics:</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Pixel Accuracy: ~92–95%</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Intersection over Union (</a:t>
            </a:r>
            <a:r>
              <a:rPr lang="en-IN" sz="4000" dirty="0" err="1">
                <a:latin typeface="Aparajita" panose="02020603050405020304" pitchFamily="18" charset="0"/>
                <a:cs typeface="Aparajita" panose="02020603050405020304" pitchFamily="18" charset="0"/>
              </a:rPr>
              <a:t>IoU</a:t>
            </a:r>
            <a:r>
              <a:rPr lang="en-IN" sz="4000" dirty="0">
                <a:latin typeface="Aparajita" panose="02020603050405020304" pitchFamily="18" charset="0"/>
                <a:cs typeface="Aparajita" panose="02020603050405020304" pitchFamily="18" charset="0"/>
              </a:rPr>
              <a:t>): ~0.85</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Dice Coefficient (F1 Score): ~0.90</a:t>
            </a:r>
          </a:p>
          <a:p>
            <a:r>
              <a:rPr lang="en-IN" sz="4000" dirty="0">
                <a:latin typeface="Aparajita" panose="02020603050405020304" pitchFamily="18" charset="0"/>
                <a:cs typeface="Aparajita" panose="02020603050405020304" pitchFamily="18" charset="0"/>
              </a:rPr>
              <a:t>The model produces:</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Binary vegetation masks</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Accurate vegetation coverage percentage</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Clear visual segmentation results</a:t>
            </a:r>
          </a:p>
          <a:p>
            <a:r>
              <a:rPr lang="en-IN" sz="4000" dirty="0">
                <a:latin typeface="Aparajita" panose="02020603050405020304" pitchFamily="18" charset="0"/>
                <a:cs typeface="Aparajita" panose="02020603050405020304" pitchFamily="18" charset="0"/>
              </a:rPr>
              <a:t>The results show </a:t>
            </a:r>
            <a:r>
              <a:rPr lang="en-IN" sz="4000" b="1" dirty="0">
                <a:latin typeface="Aparajita" panose="02020603050405020304" pitchFamily="18" charset="0"/>
                <a:cs typeface="Aparajita" panose="02020603050405020304" pitchFamily="18" charset="0"/>
              </a:rPr>
              <a:t>high consistency and reliability</a:t>
            </a:r>
            <a:r>
              <a:rPr lang="en-IN" sz="4000" dirty="0">
                <a:latin typeface="Aparajita" panose="02020603050405020304" pitchFamily="18" charset="0"/>
                <a:cs typeface="Aparajita" panose="02020603050405020304" pitchFamily="18" charset="0"/>
              </a:rPr>
              <a:t> across different terrain images.</a:t>
            </a:r>
          </a:p>
          <a:p>
            <a:r>
              <a:rPr lang="en-IN" sz="4000" dirty="0">
                <a:latin typeface="Aparajita" panose="02020603050405020304" pitchFamily="18" charset="0"/>
                <a:cs typeface="Aparajita" panose="02020603050405020304" pitchFamily="18" charset="0"/>
              </a:rPr>
              <a:t>          </a:t>
            </a:r>
          </a:p>
          <a:p>
            <a:pPr marL="453390" marR="5080" algn="l">
              <a:lnSpc>
                <a:spcPct val="100000"/>
              </a:lnSpc>
              <a:spcBef>
                <a:spcPts val="100"/>
              </a:spcBef>
            </a:pPr>
            <a:endParaRPr lang="en-IN" sz="4000" spc="-25" dirty="0">
              <a:latin typeface="Aparajita" panose="02020603050405020304" pitchFamily="18" charset="0"/>
              <a:cs typeface="Aparajita" panose="02020603050405020304" pitchFamily="18" charset="0"/>
            </a:endParaRPr>
          </a:p>
          <a:p>
            <a:pPr marL="1024890" marR="5080" indent="-571500" algn="l">
              <a:lnSpc>
                <a:spcPct val="100000"/>
              </a:lnSpc>
              <a:spcBef>
                <a:spcPts val="100"/>
              </a:spcBef>
              <a:buFont typeface="Arial" panose="020B0604020202020204" pitchFamily="34" charset="0"/>
              <a:buChar char="•"/>
            </a:pPr>
            <a:endParaRPr lang="en-IN" sz="4000" spc="-25" dirty="0">
              <a:latin typeface="Aparajita" panose="02020603050405020304" pitchFamily="18" charset="0"/>
              <a:cs typeface="Aparajita" panose="02020603050405020304" pitchFamily="18" charset="0"/>
            </a:endParaRPr>
          </a:p>
          <a:p>
            <a:pPr marL="1024890" marR="5080" indent="-571500" algn="l">
              <a:lnSpc>
                <a:spcPct val="100000"/>
              </a:lnSpc>
              <a:spcBef>
                <a:spcPts val="100"/>
              </a:spcBef>
              <a:buFont typeface="Arial" panose="020B0604020202020204" pitchFamily="34" charset="0"/>
              <a:buChar char="•"/>
            </a:pPr>
            <a:endParaRPr lang="en-IN" sz="4000" spc="-25" dirty="0">
              <a:latin typeface="Aparajita" panose="02020603050405020304" pitchFamily="18" charset="0"/>
              <a:cs typeface="Aparajita" panose="02020603050405020304" pitchFamily="18" charset="0"/>
            </a:endParaRPr>
          </a:p>
          <a:p>
            <a:pPr marL="453390" marR="5080" algn="ctr">
              <a:lnSpc>
                <a:spcPct val="100000"/>
              </a:lnSpc>
              <a:spcBef>
                <a:spcPts val="100"/>
              </a:spcBef>
            </a:pPr>
            <a:endParaRPr sz="4000" spc="-25" dirty="0">
              <a:latin typeface="Aparajita" panose="02020603050405020304" pitchFamily="18" charset="0"/>
              <a:cs typeface="Aparajita" panose="02020603050405020304" pitchFamily="18" charset="0"/>
            </a:endParaRPr>
          </a:p>
        </p:txBody>
      </p:sp>
      <p:pic>
        <p:nvPicPr>
          <p:cNvPr id="18" name="Picture 17">
            <a:extLst>
              <a:ext uri="{FF2B5EF4-FFF2-40B4-BE49-F238E27FC236}">
                <a16:creationId xmlns:a16="http://schemas.microsoft.com/office/drawing/2014/main" id="{FF9D4273-37C2-F0F4-AD06-03E7FE567B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2590800" cy="2590800"/>
          </a:xfrm>
          <a:prstGeom prst="rect">
            <a:avLst/>
          </a:prstGeom>
        </p:spPr>
      </p:pic>
      <p:sp>
        <p:nvSpPr>
          <p:cNvPr id="19" name="Rectangle 18">
            <a:extLst>
              <a:ext uri="{FF2B5EF4-FFF2-40B4-BE49-F238E27FC236}">
                <a16:creationId xmlns:a16="http://schemas.microsoft.com/office/drawing/2014/main" id="{3A6D3E07-E095-EC06-63D7-5D39EEF33CA1}"/>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9</a:t>
            </a:r>
          </a:p>
        </p:txBody>
      </p:sp>
      <p:pic>
        <p:nvPicPr>
          <p:cNvPr id="3" name="Picture 2">
            <a:extLst>
              <a:ext uri="{FF2B5EF4-FFF2-40B4-BE49-F238E27FC236}">
                <a16:creationId xmlns:a16="http://schemas.microsoft.com/office/drawing/2014/main" id="{37027990-54AD-1104-E0E0-6031F557EC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7400" y="-642938"/>
            <a:ext cx="6343650" cy="3571875"/>
          </a:xfrm>
          <a:prstGeom prst="rect">
            <a:avLst/>
          </a:prstGeom>
        </p:spPr>
      </p:pic>
    </p:spTree>
    <p:extLst>
      <p:ext uri="{BB962C8B-B14F-4D97-AF65-F5344CB8AC3E}">
        <p14:creationId xmlns:p14="http://schemas.microsoft.com/office/powerpoint/2010/main" val="1634832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53C44-3E87-65AD-F004-17861BCB2CF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7D67129-EC82-08CD-844F-1511A076DBD1}"/>
              </a:ext>
            </a:extLst>
          </p:cNvPr>
          <p:cNvSpPr txBox="1">
            <a:spLocks noGrp="1"/>
          </p:cNvSpPr>
          <p:nvPr>
            <p:ph type="title"/>
          </p:nvPr>
        </p:nvSpPr>
        <p:spPr>
          <a:xfrm>
            <a:off x="7381875" y="162024"/>
            <a:ext cx="10896600" cy="3894600"/>
          </a:xfrm>
          <a:prstGeom prst="rect">
            <a:avLst/>
          </a:prstGeom>
        </p:spPr>
        <p:txBody>
          <a:bodyPr vert="horz" wrap="square" lIns="0" tIns="519375" rIns="0" bIns="0" rtlCol="0">
            <a:spAutoFit/>
          </a:bodyPr>
          <a:lstStyle/>
          <a:p>
            <a:pPr marL="48895">
              <a:lnSpc>
                <a:spcPct val="100000"/>
              </a:lnSpc>
              <a:spcBef>
                <a:spcPts val="100"/>
              </a:spcBef>
            </a:pPr>
            <a:r>
              <a:rPr lang="en-IN" sz="6000" dirty="0"/>
              <a:t>RESULT </a:t>
            </a:r>
            <a:br>
              <a:rPr lang="en-IN" sz="6000" dirty="0"/>
            </a:br>
            <a:br>
              <a:rPr lang="en-IN" sz="5500" dirty="0"/>
            </a:br>
            <a:br>
              <a:rPr lang="en-IN" dirty="0"/>
            </a:br>
            <a:endParaRPr spc="-20" dirty="0"/>
          </a:p>
        </p:txBody>
      </p:sp>
      <p:sp>
        <p:nvSpPr>
          <p:cNvPr id="14" name="object 14">
            <a:extLst>
              <a:ext uri="{FF2B5EF4-FFF2-40B4-BE49-F238E27FC236}">
                <a16:creationId xmlns:a16="http://schemas.microsoft.com/office/drawing/2014/main" id="{F65D4912-3F30-B8D4-5011-E1CEF8DA563A}"/>
              </a:ext>
            </a:extLst>
          </p:cNvPr>
          <p:cNvSpPr txBox="1">
            <a:spLocks noGrp="1"/>
          </p:cNvSpPr>
          <p:nvPr>
            <p:ph type="body" idx="1"/>
          </p:nvPr>
        </p:nvSpPr>
        <p:spPr>
          <a:xfrm>
            <a:off x="914400" y="2171700"/>
            <a:ext cx="18973800" cy="10528523"/>
          </a:xfrm>
          <a:prstGeom prst="rect">
            <a:avLst/>
          </a:prstGeom>
        </p:spPr>
        <p:txBody>
          <a:bodyPr vert="horz" wrap="square" lIns="0" tIns="12700" rIns="0" bIns="0" rtlCol="0">
            <a:spAutoFit/>
          </a:bodyPr>
          <a:lstStyle/>
          <a:p>
            <a:r>
              <a:rPr lang="en-IN" sz="4000" b="1" dirty="0">
                <a:latin typeface="Aparajita" panose="02020603050405020304" pitchFamily="18" charset="0"/>
                <a:cs typeface="Aparajita" panose="02020603050405020304" pitchFamily="18" charset="0"/>
              </a:rPr>
              <a:t> Soil Detection (Object Detection – YOLOv8)</a:t>
            </a:r>
          </a:p>
          <a:p>
            <a:r>
              <a:rPr lang="en-IN" sz="4000" dirty="0">
                <a:latin typeface="Aparajita" panose="02020603050405020304" pitchFamily="18" charset="0"/>
                <a:cs typeface="Aparajita" panose="02020603050405020304" pitchFamily="18" charset="0"/>
              </a:rPr>
              <a:t>The soil detection model successfully identifies and classifies multiple soil types:</a:t>
            </a:r>
          </a:p>
          <a:p>
            <a:r>
              <a:rPr lang="en-IN" sz="4000" dirty="0">
                <a:latin typeface="Aparajita" panose="02020603050405020304" pitchFamily="18" charset="0"/>
                <a:cs typeface="Aparajita" panose="02020603050405020304" pitchFamily="18" charset="0"/>
              </a:rPr>
              <a:t>Alluvial </a:t>
            </a:r>
            <a:r>
              <a:rPr lang="en-IN" sz="4000" dirty="0" err="1">
                <a:latin typeface="Aparajita" panose="02020603050405020304" pitchFamily="18" charset="0"/>
                <a:cs typeface="Aparajita" panose="02020603050405020304" pitchFamily="18" charset="0"/>
              </a:rPr>
              <a:t>Soil,Black</a:t>
            </a:r>
            <a:r>
              <a:rPr lang="en-IN" sz="4000" dirty="0">
                <a:latin typeface="Aparajita" panose="02020603050405020304" pitchFamily="18" charset="0"/>
                <a:cs typeface="Aparajita" panose="02020603050405020304" pitchFamily="18" charset="0"/>
              </a:rPr>
              <a:t> </a:t>
            </a:r>
            <a:r>
              <a:rPr lang="en-IN" sz="4000" dirty="0" err="1">
                <a:latin typeface="Aparajita" panose="02020603050405020304" pitchFamily="18" charset="0"/>
                <a:cs typeface="Aparajita" panose="02020603050405020304" pitchFamily="18" charset="0"/>
              </a:rPr>
              <a:t>Soil,Clay</a:t>
            </a:r>
            <a:r>
              <a:rPr lang="en-IN" sz="4000" dirty="0">
                <a:latin typeface="Aparajita" panose="02020603050405020304" pitchFamily="18" charset="0"/>
                <a:cs typeface="Aparajita" panose="02020603050405020304" pitchFamily="18" charset="0"/>
              </a:rPr>
              <a:t> </a:t>
            </a:r>
            <a:r>
              <a:rPr lang="en-IN" sz="4000" dirty="0" err="1">
                <a:latin typeface="Aparajita" panose="02020603050405020304" pitchFamily="18" charset="0"/>
                <a:cs typeface="Aparajita" panose="02020603050405020304" pitchFamily="18" charset="0"/>
              </a:rPr>
              <a:t>Soil,Red</a:t>
            </a:r>
            <a:r>
              <a:rPr lang="en-IN" sz="4000" dirty="0">
                <a:latin typeface="Aparajita" panose="02020603050405020304" pitchFamily="18" charset="0"/>
                <a:cs typeface="Aparajita" panose="02020603050405020304" pitchFamily="18" charset="0"/>
              </a:rPr>
              <a:t> Soil.</a:t>
            </a:r>
          </a:p>
          <a:p>
            <a:r>
              <a:rPr lang="en-IN" sz="4000" dirty="0">
                <a:latin typeface="Aparajita" panose="02020603050405020304" pitchFamily="18" charset="0"/>
                <a:cs typeface="Aparajita" panose="02020603050405020304" pitchFamily="18" charset="0"/>
              </a:rPr>
              <a:t>The model was evaluated using object detection metrics:</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Overall Detection Accuracy: ~88–92%</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Mean Average Precision (mAP@0.5): ~0.86</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Confidence Score Range: 0.75 – 0.95</a:t>
            </a:r>
          </a:p>
          <a:p>
            <a:r>
              <a:rPr lang="en-IN" sz="4000" dirty="0">
                <a:latin typeface="Aparajita" panose="02020603050405020304" pitchFamily="18" charset="0"/>
                <a:cs typeface="Aparajita" panose="02020603050405020304" pitchFamily="18" charset="0"/>
              </a:rPr>
              <a:t>The model provides:</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Bounding boxes for detected soil regions</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Dominant soil type identification</a:t>
            </a:r>
          </a:p>
          <a:p>
            <a:pPr marL="571500" indent="-571500">
              <a:buFont typeface="Arial" panose="020B0604020202020204" pitchFamily="34" charset="0"/>
              <a:buChar char="•"/>
            </a:pPr>
            <a:r>
              <a:rPr lang="en-IN" sz="4000" dirty="0">
                <a:latin typeface="Aparajita" panose="02020603050405020304" pitchFamily="18" charset="0"/>
                <a:cs typeface="Aparajita" panose="02020603050405020304" pitchFamily="18" charset="0"/>
              </a:rPr>
              <a:t>Soil coverage percentage for each image</a:t>
            </a:r>
          </a:p>
          <a:p>
            <a:r>
              <a:rPr lang="en-IN" sz="4000" dirty="0">
                <a:latin typeface="Aparajita" panose="02020603050405020304" pitchFamily="18" charset="0"/>
                <a:cs typeface="Aparajita" panose="02020603050405020304" pitchFamily="18" charset="0"/>
              </a:rPr>
              <a:t>The results demonstrate </a:t>
            </a:r>
            <a:r>
              <a:rPr lang="en-IN" sz="4000" b="1" dirty="0">
                <a:latin typeface="Aparajita" panose="02020603050405020304" pitchFamily="18" charset="0"/>
                <a:cs typeface="Aparajita" panose="02020603050405020304" pitchFamily="18" charset="0"/>
              </a:rPr>
              <a:t>robust performance</a:t>
            </a:r>
            <a:r>
              <a:rPr lang="en-IN" sz="4000" dirty="0">
                <a:latin typeface="Aparajita" panose="02020603050405020304" pitchFamily="18" charset="0"/>
                <a:cs typeface="Aparajita" panose="02020603050405020304" pitchFamily="18" charset="0"/>
              </a:rPr>
              <a:t> across different soil textures and lighting conditions.</a:t>
            </a:r>
          </a:p>
          <a:p>
            <a:r>
              <a:rPr lang="en-IN" sz="4000" dirty="0">
                <a:latin typeface="Aparajita" panose="02020603050405020304" pitchFamily="18" charset="0"/>
                <a:cs typeface="Aparajita" panose="02020603050405020304" pitchFamily="18" charset="0"/>
              </a:rPr>
              <a:t>          </a:t>
            </a:r>
          </a:p>
          <a:p>
            <a:pPr marL="453390" marR="5080" algn="l">
              <a:lnSpc>
                <a:spcPct val="100000"/>
              </a:lnSpc>
              <a:spcBef>
                <a:spcPts val="100"/>
              </a:spcBef>
            </a:pPr>
            <a:endParaRPr lang="en-IN" sz="4000" spc="-25" dirty="0">
              <a:latin typeface="Aparajita" panose="02020603050405020304" pitchFamily="18" charset="0"/>
              <a:cs typeface="Aparajita" panose="02020603050405020304" pitchFamily="18" charset="0"/>
            </a:endParaRPr>
          </a:p>
          <a:p>
            <a:pPr marL="1024890" marR="5080" indent="-571500" algn="l">
              <a:lnSpc>
                <a:spcPct val="100000"/>
              </a:lnSpc>
              <a:spcBef>
                <a:spcPts val="100"/>
              </a:spcBef>
              <a:buFont typeface="Arial" panose="020B0604020202020204" pitchFamily="34" charset="0"/>
              <a:buChar char="•"/>
            </a:pPr>
            <a:endParaRPr lang="en-IN" sz="4000" spc="-25" dirty="0">
              <a:latin typeface="Aparajita" panose="02020603050405020304" pitchFamily="18" charset="0"/>
              <a:cs typeface="Aparajita" panose="02020603050405020304" pitchFamily="18" charset="0"/>
            </a:endParaRPr>
          </a:p>
          <a:p>
            <a:pPr marL="1024890" marR="5080" indent="-571500" algn="l">
              <a:lnSpc>
                <a:spcPct val="100000"/>
              </a:lnSpc>
              <a:spcBef>
                <a:spcPts val="100"/>
              </a:spcBef>
              <a:buFont typeface="Arial" panose="020B0604020202020204" pitchFamily="34" charset="0"/>
              <a:buChar char="•"/>
            </a:pPr>
            <a:endParaRPr lang="en-IN" sz="4000" spc="-25" dirty="0">
              <a:latin typeface="Aparajita" panose="02020603050405020304" pitchFamily="18" charset="0"/>
              <a:cs typeface="Aparajita" panose="02020603050405020304" pitchFamily="18" charset="0"/>
            </a:endParaRPr>
          </a:p>
          <a:p>
            <a:pPr marL="453390" marR="5080" algn="ctr">
              <a:lnSpc>
                <a:spcPct val="100000"/>
              </a:lnSpc>
              <a:spcBef>
                <a:spcPts val="100"/>
              </a:spcBef>
            </a:pPr>
            <a:endParaRPr sz="4000" spc="-25" dirty="0">
              <a:latin typeface="Aparajita" panose="02020603050405020304" pitchFamily="18" charset="0"/>
              <a:cs typeface="Aparajita" panose="02020603050405020304" pitchFamily="18" charset="0"/>
            </a:endParaRPr>
          </a:p>
        </p:txBody>
      </p:sp>
      <p:pic>
        <p:nvPicPr>
          <p:cNvPr id="18" name="Picture 17">
            <a:extLst>
              <a:ext uri="{FF2B5EF4-FFF2-40B4-BE49-F238E27FC236}">
                <a16:creationId xmlns:a16="http://schemas.microsoft.com/office/drawing/2014/main" id="{F7E80FA4-306A-B04A-FF8B-DDEF618930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42900"/>
            <a:ext cx="2590800" cy="2590800"/>
          </a:xfrm>
          <a:prstGeom prst="rect">
            <a:avLst/>
          </a:prstGeom>
        </p:spPr>
      </p:pic>
      <p:sp>
        <p:nvSpPr>
          <p:cNvPr id="19" name="Rectangle 18">
            <a:extLst>
              <a:ext uri="{FF2B5EF4-FFF2-40B4-BE49-F238E27FC236}">
                <a16:creationId xmlns:a16="http://schemas.microsoft.com/office/drawing/2014/main" id="{0D3CFF79-7CBB-F164-DD50-F651CDDD91F8}"/>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10</a:t>
            </a:r>
          </a:p>
        </p:txBody>
      </p:sp>
      <p:pic>
        <p:nvPicPr>
          <p:cNvPr id="3" name="Picture 2">
            <a:extLst>
              <a:ext uri="{FF2B5EF4-FFF2-40B4-BE49-F238E27FC236}">
                <a16:creationId xmlns:a16="http://schemas.microsoft.com/office/drawing/2014/main" id="{FF3B0E80-41E4-1DDF-D69C-87AA1DF546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7400" y="-642938"/>
            <a:ext cx="6343650" cy="3571875"/>
          </a:xfrm>
          <a:prstGeom prst="rect">
            <a:avLst/>
          </a:prstGeom>
        </p:spPr>
      </p:pic>
    </p:spTree>
    <p:extLst>
      <p:ext uri="{BB962C8B-B14F-4D97-AF65-F5344CB8AC3E}">
        <p14:creationId xmlns:p14="http://schemas.microsoft.com/office/powerpoint/2010/main" val="551226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383CC-4A19-2D1C-2C7A-F12802CB991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0716959-8C9D-8B16-B990-2830B1A4F9FF}"/>
              </a:ext>
            </a:extLst>
          </p:cNvPr>
          <p:cNvSpPr txBox="1">
            <a:spLocks noGrp="1"/>
          </p:cNvSpPr>
          <p:nvPr>
            <p:ph type="title"/>
          </p:nvPr>
        </p:nvSpPr>
        <p:spPr>
          <a:xfrm>
            <a:off x="6553200" y="495300"/>
            <a:ext cx="10896600" cy="3894600"/>
          </a:xfrm>
          <a:prstGeom prst="rect">
            <a:avLst/>
          </a:prstGeom>
        </p:spPr>
        <p:txBody>
          <a:bodyPr vert="horz" wrap="square" lIns="0" tIns="519375" rIns="0" bIns="0" rtlCol="0">
            <a:spAutoFit/>
          </a:bodyPr>
          <a:lstStyle/>
          <a:p>
            <a:pPr marL="48895">
              <a:lnSpc>
                <a:spcPct val="100000"/>
              </a:lnSpc>
              <a:spcBef>
                <a:spcPts val="100"/>
              </a:spcBef>
            </a:pPr>
            <a:r>
              <a:rPr lang="en-IN" sz="6000" dirty="0"/>
              <a:t>CONCLUSION </a:t>
            </a:r>
            <a:br>
              <a:rPr lang="en-IN" sz="6000" dirty="0"/>
            </a:br>
            <a:br>
              <a:rPr lang="en-IN" sz="5500" dirty="0"/>
            </a:br>
            <a:br>
              <a:rPr lang="en-IN" dirty="0"/>
            </a:br>
            <a:endParaRPr spc="-20" dirty="0"/>
          </a:p>
        </p:txBody>
      </p:sp>
      <p:sp>
        <p:nvSpPr>
          <p:cNvPr id="14" name="object 14">
            <a:extLst>
              <a:ext uri="{FF2B5EF4-FFF2-40B4-BE49-F238E27FC236}">
                <a16:creationId xmlns:a16="http://schemas.microsoft.com/office/drawing/2014/main" id="{2ED39C4E-3BA1-B71A-211F-09C3C063BA6B}"/>
              </a:ext>
            </a:extLst>
          </p:cNvPr>
          <p:cNvSpPr txBox="1">
            <a:spLocks noGrp="1"/>
          </p:cNvSpPr>
          <p:nvPr>
            <p:ph type="body" idx="1"/>
          </p:nvPr>
        </p:nvSpPr>
        <p:spPr>
          <a:xfrm>
            <a:off x="1371600" y="2628900"/>
            <a:ext cx="15544800" cy="5552802"/>
          </a:xfrm>
          <a:prstGeom prst="rect">
            <a:avLst/>
          </a:prstGeom>
        </p:spPr>
        <p:txBody>
          <a:bodyPr vert="horz" wrap="square" lIns="0" tIns="12700" rIns="0" bIns="0" rtlCol="0">
            <a:spAutoFit/>
          </a:bodyPr>
          <a:lstStyle/>
          <a:p>
            <a:pPr algn="just"/>
            <a:r>
              <a:rPr lang="en-US" sz="4000" dirty="0" err="1">
                <a:latin typeface="Aparajita" panose="02020603050405020304" pitchFamily="18" charset="0"/>
                <a:cs typeface="Aparajita" panose="02020603050405020304" pitchFamily="18" charset="0"/>
              </a:rPr>
              <a:t>AgroVision</a:t>
            </a:r>
            <a:r>
              <a:rPr lang="en-US" sz="4000" dirty="0">
                <a:latin typeface="Aparajita" panose="02020603050405020304" pitchFamily="18" charset="0"/>
                <a:cs typeface="Aparajita" panose="02020603050405020304" pitchFamily="18" charset="0"/>
              </a:rPr>
              <a:t> AI successfully demonstrates the use of </a:t>
            </a:r>
            <a:r>
              <a:rPr lang="en-US" sz="4000" b="1" dirty="0">
                <a:latin typeface="Aparajita" panose="02020603050405020304" pitchFamily="18" charset="0"/>
                <a:cs typeface="Aparajita" panose="02020603050405020304" pitchFamily="18" charset="0"/>
              </a:rPr>
              <a:t>deep learning</a:t>
            </a:r>
            <a:r>
              <a:rPr lang="en-US" sz="4000" dirty="0">
                <a:latin typeface="Aparajita" panose="02020603050405020304" pitchFamily="18" charset="0"/>
                <a:cs typeface="Aparajita" panose="02020603050405020304" pitchFamily="18" charset="0"/>
              </a:rPr>
              <a:t> for automated soil and vegetation analysis using images. The system accurately identifies soil types and estimates vegetation coverage, reducing the need for manual field inspections. With reliable performance, clear visual outputs, and a user-friendly dashboard, </a:t>
            </a:r>
            <a:r>
              <a:rPr lang="en-US" sz="4000" dirty="0" err="1">
                <a:latin typeface="Aparajita" panose="02020603050405020304" pitchFamily="18" charset="0"/>
                <a:cs typeface="Aparajita" panose="02020603050405020304" pitchFamily="18" charset="0"/>
              </a:rPr>
              <a:t>AgroVision</a:t>
            </a:r>
            <a:r>
              <a:rPr lang="en-US" sz="4000" dirty="0">
                <a:latin typeface="Aparajita" panose="02020603050405020304" pitchFamily="18" charset="0"/>
                <a:cs typeface="Aparajita" panose="02020603050405020304" pitchFamily="18" charset="0"/>
              </a:rPr>
              <a:t> AI provides an efficient solution for </a:t>
            </a:r>
            <a:r>
              <a:rPr lang="en-US" sz="4000" b="1" dirty="0">
                <a:latin typeface="Aparajita" panose="02020603050405020304" pitchFamily="18" charset="0"/>
                <a:cs typeface="Aparajita" panose="02020603050405020304" pitchFamily="18" charset="0"/>
              </a:rPr>
              <a:t>precision agriculture</a:t>
            </a:r>
            <a:r>
              <a:rPr lang="en-US" sz="4000" dirty="0">
                <a:latin typeface="Aparajita" panose="02020603050405020304" pitchFamily="18" charset="0"/>
                <a:cs typeface="Aparajita" panose="02020603050405020304" pitchFamily="18" charset="0"/>
              </a:rPr>
              <a:t> and </a:t>
            </a:r>
            <a:r>
              <a:rPr lang="en-US" sz="4000" b="1" dirty="0">
                <a:latin typeface="Aparajita" panose="02020603050405020304" pitchFamily="18" charset="0"/>
                <a:cs typeface="Aparajita" panose="02020603050405020304" pitchFamily="18" charset="0"/>
              </a:rPr>
              <a:t>data-driven land assessment</a:t>
            </a:r>
            <a:r>
              <a:rPr lang="en-US" sz="4000" dirty="0">
                <a:latin typeface="Aparajita" panose="02020603050405020304" pitchFamily="18" charset="0"/>
                <a:cs typeface="Aparajita" panose="02020603050405020304" pitchFamily="18" charset="0"/>
              </a:rPr>
              <a:t>. The project highlights how AI can support smarter agricultural planning and environmental monitoring.</a:t>
            </a:r>
          </a:p>
          <a:p>
            <a:pPr algn="just"/>
            <a:endParaRPr lang="en-US" sz="4000" spc="-25" dirty="0">
              <a:latin typeface="Aparajita" panose="02020603050405020304" pitchFamily="18" charset="0"/>
              <a:cs typeface="Aparajita" panose="02020603050405020304" pitchFamily="18" charset="0"/>
            </a:endParaRPr>
          </a:p>
          <a:p>
            <a:pPr algn="just"/>
            <a:r>
              <a:rPr lang="en-US" sz="4000" spc="-25" dirty="0" err="1">
                <a:latin typeface="Aparajita" panose="02020603050405020304" pitchFamily="18" charset="0"/>
                <a:cs typeface="Aparajita" panose="02020603050405020304" pitchFamily="18" charset="0"/>
              </a:rPr>
              <a:t>Github</a:t>
            </a:r>
            <a:r>
              <a:rPr lang="en-US" sz="4000" spc="-25" dirty="0">
                <a:latin typeface="Aparajita" panose="02020603050405020304" pitchFamily="18" charset="0"/>
                <a:cs typeface="Aparajita" panose="02020603050405020304" pitchFamily="18" charset="0"/>
              </a:rPr>
              <a:t> Repo: </a:t>
            </a:r>
            <a:r>
              <a:rPr lang="en-US" sz="4000" spc="-25" dirty="0">
                <a:latin typeface="Aparajita" panose="02020603050405020304" pitchFamily="18" charset="0"/>
                <a:cs typeface="Aparajita" panose="02020603050405020304" pitchFamily="18" charset="0"/>
                <a:hlinkClick r:id="rId2"/>
              </a:rPr>
              <a:t>https://github.com/Vedantpatil03/AgroVision-AI.git</a:t>
            </a:r>
            <a:endParaRPr lang="en-US" sz="4000" spc="-25" dirty="0">
              <a:latin typeface="Aparajita" panose="02020603050405020304" pitchFamily="18" charset="0"/>
              <a:cs typeface="Aparajita" panose="02020603050405020304" pitchFamily="18" charset="0"/>
            </a:endParaRPr>
          </a:p>
          <a:p>
            <a:pPr algn="just"/>
            <a:r>
              <a:rPr lang="en-US" sz="4000" spc="-25" dirty="0">
                <a:latin typeface="Aparajita" panose="02020603050405020304" pitchFamily="18" charset="0"/>
                <a:cs typeface="Aparajita" panose="02020603050405020304" pitchFamily="18" charset="0"/>
              </a:rPr>
              <a:t>Live Website: </a:t>
            </a:r>
            <a:r>
              <a:rPr lang="en-US" sz="4000" spc="-25" dirty="0">
                <a:latin typeface="Aparajita" panose="02020603050405020304" pitchFamily="18" charset="0"/>
                <a:cs typeface="Aparajita" panose="02020603050405020304" pitchFamily="18" charset="0"/>
                <a:hlinkClick r:id="rId3"/>
              </a:rPr>
              <a:t>https://agrovision-ai.streamlit.app/</a:t>
            </a:r>
            <a:endParaRPr lang="en-US" sz="4000" spc="-25" dirty="0">
              <a:latin typeface="Aparajita" panose="02020603050405020304" pitchFamily="18" charset="0"/>
              <a:cs typeface="Aparajita" panose="02020603050405020304" pitchFamily="18" charset="0"/>
            </a:endParaRPr>
          </a:p>
        </p:txBody>
      </p:sp>
      <p:pic>
        <p:nvPicPr>
          <p:cNvPr id="18" name="Picture 17">
            <a:extLst>
              <a:ext uri="{FF2B5EF4-FFF2-40B4-BE49-F238E27FC236}">
                <a16:creationId xmlns:a16="http://schemas.microsoft.com/office/drawing/2014/main" id="{47F31220-F49F-9793-32C5-F3974E078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342900"/>
            <a:ext cx="2667000" cy="2667000"/>
          </a:xfrm>
          <a:prstGeom prst="rect">
            <a:avLst/>
          </a:prstGeom>
        </p:spPr>
      </p:pic>
      <p:sp>
        <p:nvSpPr>
          <p:cNvPr id="19" name="Rectangle 18">
            <a:extLst>
              <a:ext uri="{FF2B5EF4-FFF2-40B4-BE49-F238E27FC236}">
                <a16:creationId xmlns:a16="http://schemas.microsoft.com/office/drawing/2014/main" id="{E937F53F-1279-780A-3ED4-8334BB4F4736}"/>
              </a:ext>
            </a:extLst>
          </p:cNvPr>
          <p:cNvSpPr>
            <a:spLocks noChangeArrowheads="1"/>
          </p:cNvSpPr>
          <p:nvPr/>
        </p:nvSpPr>
        <p:spPr bwMode="auto">
          <a:xfrm>
            <a:off x="0" y="9788524"/>
            <a:ext cx="18288000"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dirty="0">
                <a:solidFill>
                  <a:schemeClr val="accent2">
                    <a:lumMod val="75000"/>
                  </a:schemeClr>
                </a:solidFill>
                <a:latin typeface="+mn-lt"/>
                <a:ea typeface="+mn-ea"/>
              </a:rPr>
              <a:t>11</a:t>
            </a:r>
          </a:p>
        </p:txBody>
      </p:sp>
      <p:pic>
        <p:nvPicPr>
          <p:cNvPr id="3" name="Picture 2">
            <a:extLst>
              <a:ext uri="{FF2B5EF4-FFF2-40B4-BE49-F238E27FC236}">
                <a16:creationId xmlns:a16="http://schemas.microsoft.com/office/drawing/2014/main" id="{9521C0B3-6AFD-4782-DAFD-354647814C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487400" y="-642938"/>
            <a:ext cx="6343650" cy="3571875"/>
          </a:xfrm>
          <a:prstGeom prst="rect">
            <a:avLst/>
          </a:prstGeom>
        </p:spPr>
      </p:pic>
    </p:spTree>
    <p:extLst>
      <p:ext uri="{BB962C8B-B14F-4D97-AF65-F5344CB8AC3E}">
        <p14:creationId xmlns:p14="http://schemas.microsoft.com/office/powerpoint/2010/main" val="1903847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271</TotalTime>
  <Words>849</Words>
  <Application>Microsoft Office PowerPoint</Application>
  <PresentationFormat>Custom</PresentationFormat>
  <Paragraphs>95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Aparajita</vt:lpstr>
      <vt:lpstr>Arial</vt:lpstr>
      <vt:lpstr>Arial Black</vt:lpstr>
      <vt:lpstr>Calibri</vt:lpstr>
      <vt:lpstr>Garamond</vt:lpstr>
      <vt:lpstr>Office Theme</vt:lpstr>
      <vt:lpstr>🌍AGROVISION AI   </vt:lpstr>
      <vt:lpstr>PROBLEM STATEMENT   </vt:lpstr>
      <vt:lpstr>OBJECTIVES   </vt:lpstr>
      <vt:lpstr>METHODLOGY   </vt:lpstr>
      <vt:lpstr>PROPOSED SOLUTION   </vt:lpstr>
      <vt:lpstr>TECH STACK    </vt:lpstr>
      <vt:lpstr>TECH STACK    </vt:lpstr>
      <vt:lpstr>USER INTERFACE PREVIEW   </vt:lpstr>
      <vt:lpstr>RESULT    </vt:lpstr>
      <vt:lpstr>RESULT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SIH Winners DRAFT 1</dc:title>
  <dc:creator>Latish Charpe</dc:creator>
  <cp:keywords>DAGzQA4wgfg,BAF4SNb4edI,0</cp:keywords>
  <cp:lastModifiedBy>Vedant Patil</cp:lastModifiedBy>
  <cp:revision>8</cp:revision>
  <cp:lastPrinted>2026-01-05T10:19:18Z</cp:lastPrinted>
  <dcterms:created xsi:type="dcterms:W3CDTF">2026-01-04T11:24:57Z</dcterms:created>
  <dcterms:modified xsi:type="dcterms:W3CDTF">2026-01-07T05:01:49Z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2025-09-22T00:00:00Z</vt:filetime>
  </property>
  <property fmtid="{D5CDD505-2E9C-101B-9397-08002B2CF9AE}" pid="3" name="Creator">
    <vt:lpwstr>Canva</vt:lpwstr>
  </property>
  <property fmtid="{D5CDD505-2E9C-101B-9397-08002B2CF9AE}" pid="4" name="LastSaved">
    <vt:filetime>2026-01-04T00:00:00Z</vt:filetime>
  </property>
  <property fmtid="{D5CDD505-2E9C-101B-9397-08002B2CF9AE}" pid="5" name="Producer">
    <vt:lpwstr>3-Heights(TM) PDF Security Shell 4.8.25.2 (http://www.pdf-tools.com)</vt:lpwstr>
  </property>
</Properties>
</file>